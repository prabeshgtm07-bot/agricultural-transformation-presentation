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100"/>
            </a:pPr>
            <a:r>
              <a:t>Farmer Income Share: Traditional vs Modernized Chain</a:t>
            </a:r>
          </a:p>
        </c:rich>
      </c:tx>
      <c:layout/>
      <c:overlay val="0"/>
    </c:title>
    <c:autoTitleDeleted val="0"/>
    <c:plotArea>
      <c:barChart>
        <c:barDir val="bar"/>
        <c:grouping val="clustered"/>
        <c:ser>
          <c:idx val="0"/>
          <c:order val="0"/>
          <c:tx>
            <c:strRef>
              <c:f>Sheet1!$B$1</c:f>
              <c:strCache>
                <c:ptCount val="1"/>
                <c:pt idx="0">
                  <c:v>Farmer's Income Share (%)</c:v>
                </c:pt>
              </c:strCache>
            </c:strRef>
          </c:tx>
          <c:spPr>
            <a:solidFill>
              <a:srgbClr val="2E7D32"/>
            </a:solidFill>
          </c:spPr>
          <c:cat>
            <c:strRef>
              <c:f>Sheet1!$A$2:$A$3</c:f>
              <c:strCache>
                <c:ptCount val="2"/>
                <c:pt idx="0">
                  <c:v>Traditional Chain</c:v>
                </c:pt>
                <c:pt idx="1">
                  <c:v>Modernized Chain</c:v>
                </c:pt>
              </c:strCache>
            </c:strRef>
          </c:cat>
          <c:val>
            <c:numRef>
              <c:f>Sheet1!$B$2:$B$3</c:f>
              <c:numCache>
                <c:formatCode>General</c:formatCode>
                <c:ptCount val="2"/>
                <c:pt idx="0">
                  <c:v>32</c:v>
                </c:pt>
                <c:pt idx="1">
                  <c:v>58</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a:pPr>
            <a:r>
              <a:t>Yield Comparison: Traditional vs. Transformed Farming</a:t>
            </a:r>
          </a:p>
        </c:rich>
      </c:tx>
      <c:layout/>
      <c:overlay val="0"/>
    </c:title>
    <c:autoTitleDeleted val="0"/>
    <c:plotArea>
      <c:barChart>
        <c:barDir val="col"/>
        <c:grouping val="clustered"/>
        <c:ser>
          <c:idx val="0"/>
          <c:order val="0"/>
          <c:tx>
            <c:strRef>
              <c:f>Sheet1!$B$1</c:f>
              <c:strCache>
                <c:ptCount val="1"/>
                <c:pt idx="0">
                  <c:v>Traditional (t/ha)</c:v>
                </c:pt>
              </c:strCache>
            </c:strRef>
          </c:tx>
          <c:spPr>
            <a:solidFill>
              <a:srgbClr val="616161"/>
            </a:solidFill>
          </c:spPr>
          <c:cat>
            <c:strRef>
              <c:f>Sheet1!$A$2:$A$6</c:f>
              <c:strCache>
                <c:ptCount val="5"/>
                <c:pt idx="0">
                  <c:v>Wheat</c:v>
                </c:pt>
                <c:pt idx="1">
                  <c:v>Maize</c:v>
                </c:pt>
                <c:pt idx="2">
                  <c:v>Rice</c:v>
                </c:pt>
                <c:pt idx="3">
                  <c:v>Vegetables</c:v>
                </c:pt>
                <c:pt idx="4">
                  <c:v>Fruits</c:v>
                </c:pt>
              </c:strCache>
            </c:strRef>
          </c:cat>
          <c:val>
            <c:numRef>
              <c:f>Sheet1!$B$2:$B$6</c:f>
              <c:numCache>
                <c:formatCode>General</c:formatCode>
                <c:ptCount val="5"/>
                <c:pt idx="0">
                  <c:v>3.2</c:v>
                </c:pt>
                <c:pt idx="1">
                  <c:v>4.1</c:v>
                </c:pt>
                <c:pt idx="2">
                  <c:v>3.8</c:v>
                </c:pt>
                <c:pt idx="3">
                  <c:v>12.0</c:v>
                </c:pt>
                <c:pt idx="4">
                  <c:v>8.5</c:v>
                </c:pt>
              </c:numCache>
            </c:numRef>
          </c:val>
        </c:ser>
        <c:ser>
          <c:idx val="1"/>
          <c:order val="1"/>
          <c:tx>
            <c:strRef>
              <c:f>Sheet1!$C$1</c:f>
              <c:strCache>
                <c:ptCount val="1"/>
                <c:pt idx="0">
                  <c:v>Transformed (t/ha)</c:v>
                </c:pt>
              </c:strCache>
            </c:strRef>
          </c:tx>
          <c:spPr>
            <a:solidFill>
              <a:srgbClr val="2E7D32"/>
            </a:solidFill>
          </c:spPr>
          <c:cat>
            <c:strRef>
              <c:f>Sheet1!$A$2:$A$6</c:f>
              <c:strCache>
                <c:ptCount val="5"/>
                <c:pt idx="0">
                  <c:v>Wheat</c:v>
                </c:pt>
                <c:pt idx="1">
                  <c:v>Maize</c:v>
                </c:pt>
                <c:pt idx="2">
                  <c:v>Rice</c:v>
                </c:pt>
                <c:pt idx="3">
                  <c:v>Vegetables</c:v>
                </c:pt>
                <c:pt idx="4">
                  <c:v>Fruits</c:v>
                </c:pt>
              </c:strCache>
            </c:strRef>
          </c:cat>
          <c:val>
            <c:numRef>
              <c:f>Sheet1!$C$2:$C$6</c:f>
              <c:numCache>
                <c:formatCode>General</c:formatCode>
                <c:ptCount val="5"/>
                <c:pt idx="0">
                  <c:v>5.8</c:v>
                </c:pt>
                <c:pt idx="1">
                  <c:v>8.5</c:v>
                </c:pt>
                <c:pt idx="2">
                  <c:v>6.9</c:v>
                </c:pt>
                <c:pt idx="3">
                  <c:v>28.0</c:v>
                </c:pt>
                <c:pt idx="4">
                  <c:v>18.0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This presentation covers the global imperative for agricultural transformation, spanning technology adoption, sustainable practices, case studies, and a clear call to action. Estimated delivery time: 35-40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section briefly. This agenda gives the audience a clear roadmap for the presentation and sets expectations for the depth of coverage.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Agricultural transformation is not just about new technology – it is a holistic restructuring of how food is grown, processed, and delivered. It involves farmers, governments, private sector, and consumers working in an interconnected system. Emphasize that this is a proven pathway: every high-income country went through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contrasts the imperative with the opportunity. Use these statistics to create urgency. The key message is: inaction is expensive; transformation pays dividends. Agriculture is simultaneously the world's biggest challenge and biggest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each challenge with a real statistic. These six challenges are interconnected – soil degradation worsens under climate stress, water scarcity reduces yields, and the finance gap prevents farmers from investing in solutions. Transformation must address all these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adoption is the enabler that multiplies the impact of every other transformation pillar. Drones in Kenya cut input costs by half. IoT irrigation in India improved water use efficiency by 32%. Satellite data helped Ethiopia identify crop stress areas 3 weeks before visible signs. Cost of these technologies is dropping 20% per year, making them increasingly accessible to smallholders.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Sustainable farming is not a trade-off with productivity – it is the route to long-term productivity. Conservation agriculture in Brazil's Cerrado region increased yields while cutting fuel costs by 60%. Agroforestry in Mali reversed desertification on 5 million ha. These practices must become the default, not the exception.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CSA has three mutually reinforcing pillars – the triple win. The FAO estimates CSA practices could generate $1.8 trillion in benefits by 2030. Key success story: Vietnam's 'One Must Do, Five Reductions' rice programme cut GHG by 30% while raising yields 15%. Climate finance (Green Climate Fund, CGIAR) provides growing external resources for CSA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tools are the connective tissue of modern agriculture. In India, the eNAM electronic trading platform connected 1,000+ markets, reducing price volatility for 15 million farmers. In Kenya, M-Pesa-linked digital credit reached 500,000 smallholders previously excluded from formal banking. AI-based disease detection (e.g., PlantVillage) now serves 10 million farmers in sub-Saharan Africa.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Post-harvest losses of 30–40% represent both a food security failure and an economic loss to farmers. Supply chain modernization recovers this value. Ethiopia's commodity exchange increased farmer prices 22–30% by creating transparent, competitive markets. Cold-chain investments in East Africa cut mango losses from 45% to 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Ethiopia is one of the most dramatic agricultural transformation stories in Sub-Saharan Africa. The ATA used a systems approach – soil testing, bundled services, and market reform simultaneously. Key lesson: transformation requires political commitment at the highest level (PM Meles personally championed this). The ECX brought price transparency that broke trader monopolies, directly benefiting 15 million farmers.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Netherlands proves that scale of land is not the determinant – technology, R&amp;D, and knowledge intensity are. Wageningen University is ranked #1 agricultural university globally and has been the backbone of this transformation since the 1960s. The key lesson for developing nations: invest in agricultural education and R&amp;D first. Food Valley is now being replicated in Kenya, Vietnam, and Brazil.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shows that transformation at scale – 150 million farm households – is possible with digital-first policy design. AGRISTACK creates a unified digital identity that links land records, credit history, and insurance, removing the need for physical document visits. eNAM broke the 'commission agent monopoly' that had suppressed farmer prices for decades. Key challenge: last-mile internet connectivity for rural areas.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shows realistic yield improvements achievable with transformation. These are not theoretical maximums but documented field results from pilot programmes. The key insight is that productivity growth reduces pressure to expand agricultural land, protecting forests and biodiversity. Doubling yields on existing land is more achievable – and more sustainable – than expanding the agricultural frontier.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environmental co-benefits of agricultural transformation are enormous and often undervalued in economic analyses. Healthy soil stores more carbon than all the world's forests combined. The Bonn Challenge and 4 per 1000 initiative are building momentum around soil carbon. Biodiversity co-benefits matter for food security too – 75% of crops depend on insect pollination. Frame environment not as a constraint but as an asset to be maintained.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social returns to agricultural transformation may exceed the economic returns. Evidence from sub-Saharan Africa shows that a 10% increase in agricultural GDP reduces poverty by 7% — double the effect of equivalent non-agricultural growth (World Bank). Women particularly benefit: when women control income, 90% is invested in family nutrition and education vs. 30–40% for men. Digital tools that give women direct access to payments bypass traditional gatekeepers.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barrier categories interact and compound each other. Financial barriers prevent investment in infrastructure; poor infrastructure makes technology unviable; weak governance prevents markets from working; cultural barriers slow adoption. Any strategy must identify the binding constraints for each context. Surveys of farmers consistently show that finance is the #1 barrier, followed by access to reliable markets as the #2 concern. Address these two first.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Solutions must match the specific barrier profile of each context. In fragile states, governance reform is the prerequisite. In middle-income countries, finance unlocking is often the binding constraint. Blended finance instruments (first-loss guarantees, concessional tranches) have been proven in Kenya, Ghana, and Bangladesh to unlock 10x commercial capital for previously unbankable smallholders.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trends are not speculative – all have live pilots or early commercial deployments in 2024–2025. The convergence of AI, biotech, and digital finance creates exponential possibilities. Governments and investors that position early will capture disproportionate benefits. Key challenge: ensuring these technologies are accessible to smallholders, not only commercial farms.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decade will determine the trajectory of global food systems for a generation. Countries that invest now will capture market share, climate finance, and talent. Those that delay will face rising import bills, climate shocks, and political instability from food price crises. The window for proactive transformation is narrowing – climate change is compressing the timeline for action.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the presentation with a challenge to each stakeholder group. This slide is designed to be left on screen during Q&amp;A so the audience has something actionable to take away. Emphasise: the technologies exist, the evidence is in, the financing models are proven. What is missing is collective will and coordinated action. Agricultural transformation is not a question of 'if' but 'when' — and early movers gain the most.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five key takeaways. Invite questions — prepare for these common ones: (1) How much does transformation cost? (Answer: less than continued subsidising of the status quo — ROI is 8–15x over 10 years.) (2) What's the single most important intervention? (Answer: depends on context, but irrigation + market linkage is the most consistently high-impact combination.) (3) How long does it take? (Answer: 5–7 years for measurable productivity gains; 15–20 years for full structural transformation.) Thank the audience for their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Rectangle 1"/>
          <p:cNvSpPr/>
          <p:nvPr/>
        </p:nvSpPr>
        <p:spPr>
          <a:xfrm>
            <a:off x="0" y="5760720"/>
            <a:ext cx="12188952" cy="10972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40680"/>
            <a:ext cx="12188952" cy="13716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60152" cy="1828800"/>
          </a:xfrm>
          <a:prstGeom prst="rect">
            <a:avLst/>
          </a:prstGeom>
          <a:noFill/>
        </p:spPr>
        <p:txBody>
          <a:bodyPr wrap="square">
            <a:spAutoFit/>
          </a:bodyPr>
          <a:lstStyle/>
          <a:p>
            <a:pPr algn="ctr"/>
            <a:r>
              <a:rPr sz="5400" b="1" i="0">
                <a:solidFill>
                  <a:srgbClr val="FFFFFF"/>
                </a:solidFill>
              </a:rPr>
              <a:t>Agricultural Transformation</a:t>
            </a:r>
          </a:p>
        </p:txBody>
      </p:sp>
      <p:sp>
        <p:nvSpPr>
          <p:cNvPr id="5" name="TextBox 4"/>
          <p:cNvSpPr txBox="1"/>
          <p:nvPr/>
        </p:nvSpPr>
        <p:spPr>
          <a:xfrm>
            <a:off x="914400" y="2834640"/>
            <a:ext cx="10360152" cy="822960"/>
          </a:xfrm>
          <a:prstGeom prst="rect">
            <a:avLst/>
          </a:prstGeom>
          <a:noFill/>
        </p:spPr>
        <p:txBody>
          <a:bodyPr wrap="square">
            <a:spAutoFit/>
          </a:bodyPr>
          <a:lstStyle/>
          <a:p>
            <a:pPr algn="ctr"/>
            <a:r>
              <a:rPr sz="2200" b="0" i="0">
                <a:solidFill>
                  <a:srgbClr val="E6A23C"/>
                </a:solidFill>
              </a:rPr>
              <a:t>Driving Sustainable Growth Through Technology, Innovation &amp; Policy</a:t>
            </a:r>
          </a:p>
        </p:txBody>
      </p:sp>
      <p:sp>
        <p:nvSpPr>
          <p:cNvPr id="6" name="TextBox 5"/>
          <p:cNvSpPr txBox="1"/>
          <p:nvPr/>
        </p:nvSpPr>
        <p:spPr>
          <a:xfrm>
            <a:off x="914400" y="3749039"/>
            <a:ext cx="10360152" cy="502920"/>
          </a:xfrm>
          <a:prstGeom prst="rect">
            <a:avLst/>
          </a:prstGeom>
          <a:noFill/>
        </p:spPr>
        <p:txBody>
          <a:bodyPr wrap="square">
            <a:spAutoFit/>
          </a:bodyPr>
          <a:lstStyle/>
          <a:p>
            <a:pPr algn="ctr"/>
            <a:r>
              <a:rPr sz="1600" b="0" i="0">
                <a:solidFill>
                  <a:srgbClr val="C8E6C9"/>
                </a:solidFill>
              </a:rPr>
              <a:t>April 2026  |  Global Agriculture Forum</a:t>
            </a:r>
          </a:p>
        </p:txBody>
      </p:sp>
      <p:sp>
        <p:nvSpPr>
          <p:cNvPr id="7" name="TextBox 6"/>
          <p:cNvSpPr txBox="1"/>
          <p:nvPr/>
        </p:nvSpPr>
        <p:spPr>
          <a:xfrm>
            <a:off x="914400" y="5806440"/>
            <a:ext cx="10360152" cy="777240"/>
          </a:xfrm>
          <a:prstGeom prst="rect">
            <a:avLst/>
          </a:prstGeom>
          <a:noFill/>
        </p:spPr>
        <p:txBody>
          <a:bodyPr wrap="square">
            <a:spAutoFit/>
          </a:bodyPr>
          <a:lstStyle/>
          <a:p>
            <a:pPr algn="ctr"/>
            <a:r>
              <a:rPr sz="1400" b="0" i="0">
                <a:solidFill>
                  <a:srgbClr val="FFFFFF"/>
                </a:solidFill>
              </a:rPr>
              <a:t>Presented by: Agricultural Transformation Research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1430000" cy="640080"/>
          </a:xfrm>
          <a:prstGeom prst="rect">
            <a:avLst/>
          </a:prstGeom>
          <a:noFill/>
        </p:spPr>
        <p:txBody>
          <a:bodyPr wrap="square">
            <a:spAutoFit/>
          </a:bodyPr>
          <a:lstStyle/>
          <a:p>
            <a:pPr algn="l"/>
            <a:r>
              <a:rPr sz="3400" b="1" i="0">
                <a:solidFill>
                  <a:srgbClr val="1B5E20"/>
                </a:solidFill>
              </a:rPr>
              <a:t>Table of Contents</a:t>
            </a:r>
          </a:p>
        </p:txBody>
      </p:sp>
      <p:sp>
        <p:nvSpPr>
          <p:cNvPr id="4" name="Rectangle 3"/>
          <p:cNvSpPr/>
          <p:nvPr/>
        </p:nvSpPr>
        <p:spPr>
          <a:xfrm>
            <a:off x="365760" y="868680"/>
            <a:ext cx="11430000" cy="4572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11521440" cy="52120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69848"/>
            <a:ext cx="41148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69848"/>
            <a:ext cx="411480" cy="411480"/>
          </a:xfrm>
          <a:prstGeom prst="rect">
            <a:avLst/>
          </a:prstGeom>
          <a:noFill/>
        </p:spPr>
        <p:txBody>
          <a:bodyPr wrap="square">
            <a:spAutoFit/>
          </a:bodyPr>
          <a:lstStyle/>
          <a:p>
            <a:pPr algn="ctr"/>
            <a:r>
              <a:rPr sz="1100" b="1" i="0">
                <a:solidFill>
                  <a:srgbClr val="FFFFFF"/>
                </a:solidFill>
              </a:rPr>
              <a:t>01</a:t>
            </a:r>
          </a:p>
        </p:txBody>
      </p:sp>
      <p:sp>
        <p:nvSpPr>
          <p:cNvPr id="8" name="TextBox 7"/>
          <p:cNvSpPr txBox="1"/>
          <p:nvPr/>
        </p:nvSpPr>
        <p:spPr>
          <a:xfrm>
            <a:off x="914400" y="1097280"/>
            <a:ext cx="9418320" cy="384048"/>
          </a:xfrm>
          <a:prstGeom prst="rect">
            <a:avLst/>
          </a:prstGeom>
          <a:noFill/>
        </p:spPr>
        <p:txBody>
          <a:bodyPr wrap="square">
            <a:spAutoFit/>
          </a:bodyPr>
          <a:lstStyle/>
          <a:p>
            <a:pPr algn="l"/>
            <a:r>
              <a:rPr sz="1500" b="0" i="0">
                <a:solidFill>
                  <a:srgbClr val="212121"/>
                </a:solidFill>
              </a:rPr>
              <a:t>Introduction – What Is Agricultural Transformation?</a:t>
            </a:r>
          </a:p>
        </p:txBody>
      </p:sp>
      <p:sp>
        <p:nvSpPr>
          <p:cNvPr id="9" name="TextBox 8"/>
          <p:cNvSpPr txBox="1"/>
          <p:nvPr/>
        </p:nvSpPr>
        <p:spPr>
          <a:xfrm>
            <a:off x="10515600" y="1097280"/>
            <a:ext cx="1280160" cy="384048"/>
          </a:xfrm>
          <a:prstGeom prst="rect">
            <a:avLst/>
          </a:prstGeom>
          <a:noFill/>
        </p:spPr>
        <p:txBody>
          <a:bodyPr wrap="square">
            <a:spAutoFit/>
          </a:bodyPr>
          <a:lstStyle/>
          <a:p>
            <a:pPr algn="r"/>
            <a:r>
              <a:rPr sz="1300" b="0" i="0">
                <a:solidFill>
                  <a:srgbClr val="616161"/>
                </a:solidFill>
              </a:rPr>
              <a:t>Slides 3–5</a:t>
            </a:r>
          </a:p>
        </p:txBody>
      </p:sp>
      <p:sp>
        <p:nvSpPr>
          <p:cNvPr id="10" name="Rectangle 9"/>
          <p:cNvSpPr/>
          <p:nvPr/>
        </p:nvSpPr>
        <p:spPr>
          <a:xfrm>
            <a:off x="320040" y="1572768"/>
            <a:ext cx="11521440" cy="521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636776"/>
            <a:ext cx="41148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636776"/>
            <a:ext cx="411480" cy="411480"/>
          </a:xfrm>
          <a:prstGeom prst="rect">
            <a:avLst/>
          </a:prstGeom>
          <a:noFill/>
        </p:spPr>
        <p:txBody>
          <a:bodyPr wrap="square">
            <a:spAutoFit/>
          </a:bodyPr>
          <a:lstStyle/>
          <a:p>
            <a:pPr algn="ctr"/>
            <a:r>
              <a:rPr sz="1100" b="1" i="0">
                <a:solidFill>
                  <a:srgbClr val="FFFFFF"/>
                </a:solidFill>
              </a:rPr>
              <a:t>02</a:t>
            </a:r>
          </a:p>
        </p:txBody>
      </p:sp>
      <p:sp>
        <p:nvSpPr>
          <p:cNvPr id="13" name="TextBox 12"/>
          <p:cNvSpPr txBox="1"/>
          <p:nvPr/>
        </p:nvSpPr>
        <p:spPr>
          <a:xfrm>
            <a:off x="914400" y="1664208"/>
            <a:ext cx="9418320" cy="384048"/>
          </a:xfrm>
          <a:prstGeom prst="rect">
            <a:avLst/>
          </a:prstGeom>
          <a:noFill/>
        </p:spPr>
        <p:txBody>
          <a:bodyPr wrap="square">
            <a:spAutoFit/>
          </a:bodyPr>
          <a:lstStyle/>
          <a:p>
            <a:pPr algn="l"/>
            <a:r>
              <a:rPr sz="1500" b="0" i="0">
                <a:solidFill>
                  <a:srgbClr val="212121"/>
                </a:solidFill>
              </a:rPr>
              <a:t>Key Areas of Transformation</a:t>
            </a:r>
          </a:p>
        </p:txBody>
      </p:sp>
      <p:sp>
        <p:nvSpPr>
          <p:cNvPr id="14" name="TextBox 13"/>
          <p:cNvSpPr txBox="1"/>
          <p:nvPr/>
        </p:nvSpPr>
        <p:spPr>
          <a:xfrm>
            <a:off x="10515600" y="1664208"/>
            <a:ext cx="1280160" cy="384048"/>
          </a:xfrm>
          <a:prstGeom prst="rect">
            <a:avLst/>
          </a:prstGeom>
          <a:noFill/>
        </p:spPr>
        <p:txBody>
          <a:bodyPr wrap="square">
            <a:spAutoFit/>
          </a:bodyPr>
          <a:lstStyle/>
          <a:p>
            <a:pPr algn="r"/>
            <a:r>
              <a:rPr sz="1300" b="0" i="0">
                <a:solidFill>
                  <a:srgbClr val="616161"/>
                </a:solidFill>
              </a:rPr>
              <a:t>Slides 6–10</a:t>
            </a:r>
          </a:p>
        </p:txBody>
      </p:sp>
      <p:sp>
        <p:nvSpPr>
          <p:cNvPr id="15" name="Rectangle 14"/>
          <p:cNvSpPr/>
          <p:nvPr/>
        </p:nvSpPr>
        <p:spPr>
          <a:xfrm>
            <a:off x="320040" y="2139696"/>
            <a:ext cx="11521440" cy="52120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2203704"/>
            <a:ext cx="41148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203704"/>
            <a:ext cx="411480" cy="411480"/>
          </a:xfrm>
          <a:prstGeom prst="rect">
            <a:avLst/>
          </a:prstGeom>
          <a:noFill/>
        </p:spPr>
        <p:txBody>
          <a:bodyPr wrap="square">
            <a:spAutoFit/>
          </a:bodyPr>
          <a:lstStyle/>
          <a:p>
            <a:pPr algn="ctr"/>
            <a:r>
              <a:rPr sz="1100" b="1" i="0">
                <a:solidFill>
                  <a:srgbClr val="FFFFFF"/>
                </a:solidFill>
              </a:rPr>
              <a:t>03</a:t>
            </a:r>
          </a:p>
        </p:txBody>
      </p:sp>
      <p:sp>
        <p:nvSpPr>
          <p:cNvPr id="18" name="TextBox 17"/>
          <p:cNvSpPr txBox="1"/>
          <p:nvPr/>
        </p:nvSpPr>
        <p:spPr>
          <a:xfrm>
            <a:off x="914400" y="2231136"/>
            <a:ext cx="9418320" cy="384048"/>
          </a:xfrm>
          <a:prstGeom prst="rect">
            <a:avLst/>
          </a:prstGeom>
          <a:noFill/>
        </p:spPr>
        <p:txBody>
          <a:bodyPr wrap="square">
            <a:spAutoFit/>
          </a:bodyPr>
          <a:lstStyle/>
          <a:p>
            <a:pPr algn="l"/>
            <a:r>
              <a:rPr sz="1500" b="0" i="0">
                <a:solidFill>
                  <a:srgbClr val="212121"/>
                </a:solidFill>
              </a:rPr>
              <a:t>Case Studies – Real-World Success</a:t>
            </a:r>
          </a:p>
        </p:txBody>
      </p:sp>
      <p:sp>
        <p:nvSpPr>
          <p:cNvPr id="19" name="TextBox 18"/>
          <p:cNvSpPr txBox="1"/>
          <p:nvPr/>
        </p:nvSpPr>
        <p:spPr>
          <a:xfrm>
            <a:off x="10515600" y="2231136"/>
            <a:ext cx="1280160" cy="384048"/>
          </a:xfrm>
          <a:prstGeom prst="rect">
            <a:avLst/>
          </a:prstGeom>
          <a:noFill/>
        </p:spPr>
        <p:txBody>
          <a:bodyPr wrap="square">
            <a:spAutoFit/>
          </a:bodyPr>
          <a:lstStyle/>
          <a:p>
            <a:pPr algn="r"/>
            <a:r>
              <a:rPr sz="1300" b="0" i="0">
                <a:solidFill>
                  <a:srgbClr val="616161"/>
                </a:solidFill>
              </a:rPr>
              <a:t>Slides 11–13</a:t>
            </a:r>
          </a:p>
        </p:txBody>
      </p:sp>
      <p:sp>
        <p:nvSpPr>
          <p:cNvPr id="20" name="Rectangle 19"/>
          <p:cNvSpPr/>
          <p:nvPr/>
        </p:nvSpPr>
        <p:spPr>
          <a:xfrm>
            <a:off x="320040" y="2706624"/>
            <a:ext cx="11521440" cy="521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770632"/>
            <a:ext cx="41148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770632"/>
            <a:ext cx="411480" cy="411480"/>
          </a:xfrm>
          <a:prstGeom prst="rect">
            <a:avLst/>
          </a:prstGeom>
          <a:noFill/>
        </p:spPr>
        <p:txBody>
          <a:bodyPr wrap="square">
            <a:spAutoFit/>
          </a:bodyPr>
          <a:lstStyle/>
          <a:p>
            <a:pPr algn="ctr"/>
            <a:r>
              <a:rPr sz="1100" b="1" i="0">
                <a:solidFill>
                  <a:srgbClr val="FFFFFF"/>
                </a:solidFill>
              </a:rPr>
              <a:t>04</a:t>
            </a:r>
          </a:p>
        </p:txBody>
      </p:sp>
      <p:sp>
        <p:nvSpPr>
          <p:cNvPr id="23" name="TextBox 22"/>
          <p:cNvSpPr txBox="1"/>
          <p:nvPr/>
        </p:nvSpPr>
        <p:spPr>
          <a:xfrm>
            <a:off x="914400" y="2798064"/>
            <a:ext cx="9418320" cy="384048"/>
          </a:xfrm>
          <a:prstGeom prst="rect">
            <a:avLst/>
          </a:prstGeom>
          <a:noFill/>
        </p:spPr>
        <p:txBody>
          <a:bodyPr wrap="square">
            <a:spAutoFit/>
          </a:bodyPr>
          <a:lstStyle/>
          <a:p>
            <a:pPr algn="l"/>
            <a:r>
              <a:rPr sz="1500" b="0" i="0">
                <a:solidFill>
                  <a:srgbClr val="212121"/>
                </a:solidFill>
              </a:rPr>
              <a:t>Benefits &amp; Impact</a:t>
            </a:r>
          </a:p>
        </p:txBody>
      </p:sp>
      <p:sp>
        <p:nvSpPr>
          <p:cNvPr id="24" name="TextBox 23"/>
          <p:cNvSpPr txBox="1"/>
          <p:nvPr/>
        </p:nvSpPr>
        <p:spPr>
          <a:xfrm>
            <a:off x="10515600" y="2798064"/>
            <a:ext cx="1280160" cy="384048"/>
          </a:xfrm>
          <a:prstGeom prst="rect">
            <a:avLst/>
          </a:prstGeom>
          <a:noFill/>
        </p:spPr>
        <p:txBody>
          <a:bodyPr wrap="square">
            <a:spAutoFit/>
          </a:bodyPr>
          <a:lstStyle/>
          <a:p>
            <a:pPr algn="r"/>
            <a:r>
              <a:rPr sz="1300" b="0" i="0">
                <a:solidFill>
                  <a:srgbClr val="616161"/>
                </a:solidFill>
              </a:rPr>
              <a:t>Slides 14–16</a:t>
            </a:r>
          </a:p>
        </p:txBody>
      </p:sp>
      <p:sp>
        <p:nvSpPr>
          <p:cNvPr id="25" name="Rectangle 24"/>
          <p:cNvSpPr/>
          <p:nvPr/>
        </p:nvSpPr>
        <p:spPr>
          <a:xfrm>
            <a:off x="320040" y="3273552"/>
            <a:ext cx="11521440" cy="52120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337560"/>
            <a:ext cx="41148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337560"/>
            <a:ext cx="411480" cy="411480"/>
          </a:xfrm>
          <a:prstGeom prst="rect">
            <a:avLst/>
          </a:prstGeom>
          <a:noFill/>
        </p:spPr>
        <p:txBody>
          <a:bodyPr wrap="square">
            <a:spAutoFit/>
          </a:bodyPr>
          <a:lstStyle/>
          <a:p>
            <a:pPr algn="ctr"/>
            <a:r>
              <a:rPr sz="1100" b="1" i="0">
                <a:solidFill>
                  <a:srgbClr val="FFFFFF"/>
                </a:solidFill>
              </a:rPr>
              <a:t>05</a:t>
            </a:r>
          </a:p>
        </p:txBody>
      </p:sp>
      <p:sp>
        <p:nvSpPr>
          <p:cNvPr id="28" name="TextBox 27"/>
          <p:cNvSpPr txBox="1"/>
          <p:nvPr/>
        </p:nvSpPr>
        <p:spPr>
          <a:xfrm>
            <a:off x="914400" y="3364992"/>
            <a:ext cx="9418320" cy="384048"/>
          </a:xfrm>
          <a:prstGeom prst="rect">
            <a:avLst/>
          </a:prstGeom>
          <a:noFill/>
        </p:spPr>
        <p:txBody>
          <a:bodyPr wrap="square">
            <a:spAutoFit/>
          </a:bodyPr>
          <a:lstStyle/>
          <a:p>
            <a:pPr algn="l"/>
            <a:r>
              <a:rPr sz="1500" b="0" i="0">
                <a:solidFill>
                  <a:srgbClr val="212121"/>
                </a:solidFill>
              </a:rPr>
              <a:t>Challenges &amp; Solutions</a:t>
            </a:r>
          </a:p>
        </p:txBody>
      </p:sp>
      <p:sp>
        <p:nvSpPr>
          <p:cNvPr id="29" name="TextBox 28"/>
          <p:cNvSpPr txBox="1"/>
          <p:nvPr/>
        </p:nvSpPr>
        <p:spPr>
          <a:xfrm>
            <a:off x="10515600" y="3364992"/>
            <a:ext cx="1280160" cy="384048"/>
          </a:xfrm>
          <a:prstGeom prst="rect">
            <a:avLst/>
          </a:prstGeom>
          <a:noFill/>
        </p:spPr>
        <p:txBody>
          <a:bodyPr wrap="square">
            <a:spAutoFit/>
          </a:bodyPr>
          <a:lstStyle/>
          <a:p>
            <a:pPr algn="r"/>
            <a:r>
              <a:rPr sz="1300" b="0" i="0">
                <a:solidFill>
                  <a:srgbClr val="616161"/>
                </a:solidFill>
              </a:rPr>
              <a:t>Slides 17–18</a:t>
            </a:r>
          </a:p>
        </p:txBody>
      </p:sp>
      <p:sp>
        <p:nvSpPr>
          <p:cNvPr id="30" name="Rectangle 29"/>
          <p:cNvSpPr/>
          <p:nvPr/>
        </p:nvSpPr>
        <p:spPr>
          <a:xfrm>
            <a:off x="320040" y="3840480"/>
            <a:ext cx="11521440" cy="521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3904488"/>
            <a:ext cx="41148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3904488"/>
            <a:ext cx="411480" cy="411480"/>
          </a:xfrm>
          <a:prstGeom prst="rect">
            <a:avLst/>
          </a:prstGeom>
          <a:noFill/>
        </p:spPr>
        <p:txBody>
          <a:bodyPr wrap="square">
            <a:spAutoFit/>
          </a:bodyPr>
          <a:lstStyle/>
          <a:p>
            <a:pPr algn="ctr"/>
            <a:r>
              <a:rPr sz="1100" b="1" i="0">
                <a:solidFill>
                  <a:srgbClr val="FFFFFF"/>
                </a:solidFill>
              </a:rPr>
              <a:t>06</a:t>
            </a:r>
          </a:p>
        </p:txBody>
      </p:sp>
      <p:sp>
        <p:nvSpPr>
          <p:cNvPr id="33" name="TextBox 32"/>
          <p:cNvSpPr txBox="1"/>
          <p:nvPr/>
        </p:nvSpPr>
        <p:spPr>
          <a:xfrm>
            <a:off x="914400" y="3931920"/>
            <a:ext cx="9418320" cy="384048"/>
          </a:xfrm>
          <a:prstGeom prst="rect">
            <a:avLst/>
          </a:prstGeom>
          <a:noFill/>
        </p:spPr>
        <p:txBody>
          <a:bodyPr wrap="square">
            <a:spAutoFit/>
          </a:bodyPr>
          <a:lstStyle/>
          <a:p>
            <a:pPr algn="l"/>
            <a:r>
              <a:rPr sz="1500" b="0" i="0">
                <a:solidFill>
                  <a:srgbClr val="212121"/>
                </a:solidFill>
              </a:rPr>
              <a:t>Future Outlook &amp; Emerging Trends</a:t>
            </a:r>
          </a:p>
        </p:txBody>
      </p:sp>
      <p:sp>
        <p:nvSpPr>
          <p:cNvPr id="34" name="TextBox 33"/>
          <p:cNvSpPr txBox="1"/>
          <p:nvPr/>
        </p:nvSpPr>
        <p:spPr>
          <a:xfrm>
            <a:off x="10515600" y="3931920"/>
            <a:ext cx="1280160" cy="384048"/>
          </a:xfrm>
          <a:prstGeom prst="rect">
            <a:avLst/>
          </a:prstGeom>
          <a:noFill/>
        </p:spPr>
        <p:txBody>
          <a:bodyPr wrap="square">
            <a:spAutoFit/>
          </a:bodyPr>
          <a:lstStyle/>
          <a:p>
            <a:pPr algn="r"/>
            <a:r>
              <a:rPr sz="1300" b="0" i="0">
                <a:solidFill>
                  <a:srgbClr val="616161"/>
                </a:solidFill>
              </a:rPr>
              <a:t>Slides 19–20</a:t>
            </a:r>
          </a:p>
        </p:txBody>
      </p:sp>
      <p:sp>
        <p:nvSpPr>
          <p:cNvPr id="35" name="Rectangle 34"/>
          <p:cNvSpPr/>
          <p:nvPr/>
        </p:nvSpPr>
        <p:spPr>
          <a:xfrm>
            <a:off x="320040" y="4407408"/>
            <a:ext cx="11521440" cy="52120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4471416"/>
            <a:ext cx="41148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4471416"/>
            <a:ext cx="411480" cy="411480"/>
          </a:xfrm>
          <a:prstGeom prst="rect">
            <a:avLst/>
          </a:prstGeom>
          <a:noFill/>
        </p:spPr>
        <p:txBody>
          <a:bodyPr wrap="square">
            <a:spAutoFit/>
          </a:bodyPr>
          <a:lstStyle/>
          <a:p>
            <a:pPr algn="ctr"/>
            <a:r>
              <a:rPr sz="1100" b="1" i="0">
                <a:solidFill>
                  <a:srgbClr val="FFFFFF"/>
                </a:solidFill>
              </a:rPr>
              <a:t>07</a:t>
            </a:r>
          </a:p>
        </p:txBody>
      </p:sp>
      <p:sp>
        <p:nvSpPr>
          <p:cNvPr id="38" name="TextBox 37"/>
          <p:cNvSpPr txBox="1"/>
          <p:nvPr/>
        </p:nvSpPr>
        <p:spPr>
          <a:xfrm>
            <a:off x="914400" y="4498848"/>
            <a:ext cx="9418320" cy="384048"/>
          </a:xfrm>
          <a:prstGeom prst="rect">
            <a:avLst/>
          </a:prstGeom>
          <a:noFill/>
        </p:spPr>
        <p:txBody>
          <a:bodyPr wrap="square">
            <a:spAutoFit/>
          </a:bodyPr>
          <a:lstStyle/>
          <a:p>
            <a:pPr algn="l"/>
            <a:r>
              <a:rPr sz="1500" b="0" i="0">
                <a:solidFill>
                  <a:srgbClr val="212121"/>
                </a:solidFill>
              </a:rPr>
              <a:t>Call to Action</a:t>
            </a:r>
          </a:p>
        </p:txBody>
      </p:sp>
      <p:sp>
        <p:nvSpPr>
          <p:cNvPr id="39" name="TextBox 38"/>
          <p:cNvSpPr txBox="1"/>
          <p:nvPr/>
        </p:nvSpPr>
        <p:spPr>
          <a:xfrm>
            <a:off x="10515600" y="4498848"/>
            <a:ext cx="1280160" cy="384048"/>
          </a:xfrm>
          <a:prstGeom prst="rect">
            <a:avLst/>
          </a:prstGeom>
          <a:noFill/>
        </p:spPr>
        <p:txBody>
          <a:bodyPr wrap="square">
            <a:spAutoFit/>
          </a:bodyPr>
          <a:lstStyle/>
          <a:p>
            <a:pPr algn="r"/>
            <a:r>
              <a:rPr sz="1300" b="0" i="0">
                <a:solidFill>
                  <a:srgbClr val="616161"/>
                </a:solidFill>
              </a:rPr>
              <a:t>Slide 21</a:t>
            </a:r>
          </a:p>
        </p:txBody>
      </p:sp>
      <p:sp>
        <p:nvSpPr>
          <p:cNvPr id="40" name="Rectangle 39"/>
          <p:cNvSpPr/>
          <p:nvPr/>
        </p:nvSpPr>
        <p:spPr>
          <a:xfrm>
            <a:off x="320040" y="4974336"/>
            <a:ext cx="11521440" cy="521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5038344"/>
            <a:ext cx="41148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5038344"/>
            <a:ext cx="411480" cy="411480"/>
          </a:xfrm>
          <a:prstGeom prst="rect">
            <a:avLst/>
          </a:prstGeom>
          <a:noFill/>
        </p:spPr>
        <p:txBody>
          <a:bodyPr wrap="square">
            <a:spAutoFit/>
          </a:bodyPr>
          <a:lstStyle/>
          <a:p>
            <a:pPr algn="ctr"/>
            <a:r>
              <a:rPr sz="1100" b="1" i="0">
                <a:solidFill>
                  <a:srgbClr val="FFFFFF"/>
                </a:solidFill>
              </a:rPr>
              <a:t>08</a:t>
            </a:r>
          </a:p>
        </p:txBody>
      </p:sp>
      <p:sp>
        <p:nvSpPr>
          <p:cNvPr id="43" name="TextBox 42"/>
          <p:cNvSpPr txBox="1"/>
          <p:nvPr/>
        </p:nvSpPr>
        <p:spPr>
          <a:xfrm>
            <a:off x="914400" y="5065776"/>
            <a:ext cx="9418320" cy="384048"/>
          </a:xfrm>
          <a:prstGeom prst="rect">
            <a:avLst/>
          </a:prstGeom>
          <a:noFill/>
        </p:spPr>
        <p:txBody>
          <a:bodyPr wrap="square">
            <a:spAutoFit/>
          </a:bodyPr>
          <a:lstStyle/>
          <a:p>
            <a:pPr algn="l"/>
            <a:r>
              <a:rPr sz="1500" b="0" i="0">
                <a:solidFill>
                  <a:srgbClr val="212121"/>
                </a:solidFill>
              </a:rPr>
              <a:t>Conclusion &amp; Q&amp;A</a:t>
            </a:r>
          </a:p>
        </p:txBody>
      </p:sp>
      <p:sp>
        <p:nvSpPr>
          <p:cNvPr id="44" name="TextBox 43"/>
          <p:cNvSpPr txBox="1"/>
          <p:nvPr/>
        </p:nvSpPr>
        <p:spPr>
          <a:xfrm>
            <a:off x="10515600" y="5065776"/>
            <a:ext cx="1280160" cy="384048"/>
          </a:xfrm>
          <a:prstGeom prst="rect">
            <a:avLst/>
          </a:prstGeom>
          <a:noFill/>
        </p:spPr>
        <p:txBody>
          <a:bodyPr wrap="square">
            <a:spAutoFit/>
          </a:bodyPr>
          <a:lstStyle/>
          <a:p>
            <a:pPr algn="r"/>
            <a:r>
              <a:rPr sz="1300" b="0" i="0">
                <a:solidFill>
                  <a:srgbClr val="616161"/>
                </a:solidFill>
              </a:rPr>
              <a:t>Slide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What Is Agricultural Transformation?</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Introduction</a:t>
            </a:r>
          </a:p>
        </p:txBody>
      </p:sp>
      <p:sp>
        <p:nvSpPr>
          <p:cNvPr id="5" name="TextBox 4"/>
          <p:cNvSpPr txBox="1"/>
          <p:nvPr/>
        </p:nvSpPr>
        <p:spPr>
          <a:xfrm>
            <a:off x="457200" y="1097280"/>
            <a:ext cx="11247120" cy="502920"/>
          </a:xfrm>
          <a:prstGeom prst="rect">
            <a:avLst/>
          </a:prstGeom>
          <a:noFill/>
        </p:spPr>
        <p:txBody>
          <a:bodyPr wrap="square">
            <a:spAutoFit/>
          </a:bodyPr>
          <a:lstStyle/>
          <a:p>
            <a:pPr algn="l"/>
            <a:r>
              <a:rPr sz="1700" b="0" i="1">
                <a:solidFill>
                  <a:srgbClr val="5D4037"/>
                </a:solidFill>
              </a:rPr>
              <a:t>A systemic shift from subsistence farming to modern, productive, and sustainable food systems.</a:t>
            </a:r>
          </a:p>
        </p:txBody>
      </p:sp>
      <p:sp>
        <p:nvSpPr>
          <p:cNvPr id="6" name="TextBox 5"/>
          <p:cNvSpPr txBox="1"/>
          <p:nvPr/>
        </p:nvSpPr>
        <p:spPr>
          <a:xfrm>
            <a:off x="457200" y="1691640"/>
            <a:ext cx="11247120" cy="4572000"/>
          </a:xfrm>
          <a:prstGeom prst="rect">
            <a:avLst/>
          </a:prstGeom>
          <a:noFill/>
        </p:spPr>
        <p:txBody>
          <a:bodyPr wrap="square">
            <a:spAutoFit/>
          </a:bodyPr>
          <a:lstStyle/>
          <a:p>
            <a:pPr>
              <a:spcBef>
                <a:spcPts val="400"/>
              </a:spcBef>
            </a:pPr>
            <a:r>
              <a:rPr sz="1600">
                <a:solidFill>
                  <a:srgbClr val="212121"/>
                </a:solidFill>
              </a:rPr>
              <a:t>▸ Modernizing farming methods, tools, and market linkages</a:t>
            </a:r>
          </a:p>
          <a:p>
            <a:pPr>
              <a:spcBef>
                <a:spcPts val="400"/>
              </a:spcBef>
            </a:pPr>
            <a:r>
              <a:rPr sz="1600">
                <a:solidFill>
                  <a:srgbClr val="212121"/>
                </a:solidFill>
              </a:rPr>
              <a:t>▸ Shifting from low-input subsistence to high-value commercial production</a:t>
            </a:r>
          </a:p>
          <a:p>
            <a:pPr>
              <a:spcBef>
                <a:spcPts val="400"/>
              </a:spcBef>
            </a:pPr>
            <a:r>
              <a:rPr sz="1600">
                <a:solidFill>
                  <a:srgbClr val="212121"/>
                </a:solidFill>
              </a:rPr>
              <a:t>▸ Integrating technology, data, and innovation across the agricultural value chain</a:t>
            </a:r>
          </a:p>
          <a:p>
            <a:pPr>
              <a:spcBef>
                <a:spcPts val="400"/>
              </a:spcBef>
            </a:pPr>
            <a:r>
              <a:rPr sz="1600">
                <a:solidFill>
                  <a:srgbClr val="212121"/>
                </a:solidFill>
              </a:rPr>
              <a:t>▸ Empowering smallholder farmers through knowledge, finance, and infrastructure</a:t>
            </a:r>
          </a:p>
          <a:p>
            <a:pPr>
              <a:spcBef>
                <a:spcPts val="400"/>
              </a:spcBef>
            </a:pPr>
            <a:r>
              <a:rPr sz="1600">
                <a:solidFill>
                  <a:srgbClr val="212121"/>
                </a:solidFill>
              </a:rPr>
              <a:t>▸ Building resilient food systems that can withstand climate and market shocks</a:t>
            </a:r>
          </a:p>
          <a:p>
            <a:pPr>
              <a:spcBef>
                <a:spcPts val="400"/>
              </a:spcBef>
            </a:pPr>
            <a:r>
              <a:rPr sz="1600">
                <a:solidFill>
                  <a:srgbClr val="212121"/>
                </a:solidFill>
              </a:rPr>
              <a:t>▸ Aligning rural economies with national development and food security goals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Why Agricultural Transformation Matters</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Introduction</a:t>
            </a:r>
          </a:p>
        </p:txBody>
      </p:sp>
      <p:sp>
        <p:nvSpPr>
          <p:cNvPr id="5" name="Rectangle 4"/>
          <p:cNvSpPr/>
          <p:nvPr/>
        </p:nvSpPr>
        <p:spPr>
          <a:xfrm>
            <a:off x="365760" y="1051560"/>
            <a:ext cx="5394960" cy="5303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35040" y="1051560"/>
            <a:ext cx="5394960" cy="53035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5120640" cy="457200"/>
          </a:xfrm>
          <a:prstGeom prst="rect">
            <a:avLst/>
          </a:prstGeom>
          <a:noFill/>
        </p:spPr>
        <p:txBody>
          <a:bodyPr wrap="square">
            <a:spAutoFit/>
          </a:bodyPr>
          <a:lstStyle/>
          <a:p>
            <a:pPr algn="l"/>
            <a:r>
              <a:rPr sz="1700" b="1" i="0">
                <a:solidFill>
                  <a:srgbClr val="1B5E20"/>
                </a:solidFill>
              </a:rPr>
              <a:t>Global Imperative</a:t>
            </a:r>
          </a:p>
        </p:txBody>
      </p:sp>
      <p:sp>
        <p:nvSpPr>
          <p:cNvPr id="8" name="TextBox 7"/>
          <p:cNvSpPr txBox="1"/>
          <p:nvPr/>
        </p:nvSpPr>
        <p:spPr>
          <a:xfrm>
            <a:off x="502920" y="1600200"/>
            <a:ext cx="5120640" cy="4389120"/>
          </a:xfrm>
          <a:prstGeom prst="rect">
            <a:avLst/>
          </a:prstGeom>
          <a:noFill/>
        </p:spPr>
        <p:txBody>
          <a:bodyPr wrap="square">
            <a:spAutoFit/>
          </a:bodyPr>
          <a:lstStyle/>
          <a:p>
            <a:pPr>
              <a:spcBef>
                <a:spcPts val="400"/>
              </a:spcBef>
            </a:pPr>
            <a:r>
              <a:rPr sz="1500">
                <a:solidFill>
                  <a:srgbClr val="212121"/>
                </a:solidFill>
              </a:rPr>
              <a:t>▸ 9.7 billion people to feed by 2050</a:t>
            </a:r>
          </a:p>
          <a:p>
            <a:pPr>
              <a:spcBef>
                <a:spcPts val="400"/>
              </a:spcBef>
            </a:pPr>
            <a:r>
              <a:rPr sz="1500">
                <a:solidFill>
                  <a:srgbClr val="212121"/>
                </a:solidFill>
              </a:rPr>
              <a:t>▸ Agriculture employs 26% of the global workforce</a:t>
            </a:r>
          </a:p>
          <a:p>
            <a:pPr>
              <a:spcBef>
                <a:spcPts val="400"/>
              </a:spcBef>
            </a:pPr>
            <a:r>
              <a:rPr sz="1500">
                <a:solidFill>
                  <a:srgbClr val="212121"/>
                </a:solidFill>
              </a:rPr>
              <a:t>▸ 40% of global land is agricultural land</a:t>
            </a:r>
          </a:p>
          <a:p>
            <a:pPr>
              <a:spcBef>
                <a:spcPts val="400"/>
              </a:spcBef>
            </a:pPr>
            <a:r>
              <a:rPr sz="1500">
                <a:solidFill>
                  <a:srgbClr val="212121"/>
                </a:solidFill>
              </a:rPr>
              <a:t>▸ Current yield growth: 1.6% vs needed 2.4% annually</a:t>
            </a:r>
          </a:p>
          <a:p>
            <a:pPr>
              <a:spcBef>
                <a:spcPts val="400"/>
              </a:spcBef>
            </a:pPr>
            <a:r>
              <a:rPr sz="1500">
                <a:solidFill>
                  <a:srgbClr val="212121"/>
                </a:solidFill>
              </a:rPr>
              <a:t>▸ Food systems generate 30% of global GHG emissions</a:t>
            </a:r>
          </a:p>
          <a:p>
            <a:pPr>
              <a:spcBef>
                <a:spcPts val="400"/>
              </a:spcBef>
            </a:pPr>
            <a:r>
              <a:rPr sz="1500">
                <a:solidFill>
                  <a:srgbClr val="212121"/>
                </a:solidFill>
              </a:rPr>
              <a:t>▸ 820 million people remain food insecure today</a:t>
            </a:r>
          </a:p>
        </p:txBody>
      </p:sp>
      <p:sp>
        <p:nvSpPr>
          <p:cNvPr id="9" name="TextBox 8"/>
          <p:cNvSpPr txBox="1"/>
          <p:nvPr/>
        </p:nvSpPr>
        <p:spPr>
          <a:xfrm>
            <a:off x="6172200" y="1097280"/>
            <a:ext cx="5120640" cy="457200"/>
          </a:xfrm>
          <a:prstGeom prst="rect">
            <a:avLst/>
          </a:prstGeom>
          <a:noFill/>
        </p:spPr>
        <p:txBody>
          <a:bodyPr wrap="square">
            <a:spAutoFit/>
          </a:bodyPr>
          <a:lstStyle/>
          <a:p>
            <a:pPr algn="l"/>
            <a:r>
              <a:rPr sz="1700" b="1" i="0">
                <a:solidFill>
                  <a:srgbClr val="5D4037"/>
                </a:solidFill>
              </a:rPr>
              <a:t>Economic Opportunity</a:t>
            </a:r>
          </a:p>
        </p:txBody>
      </p:sp>
      <p:sp>
        <p:nvSpPr>
          <p:cNvPr id="10" name="TextBox 9"/>
          <p:cNvSpPr txBox="1"/>
          <p:nvPr/>
        </p:nvSpPr>
        <p:spPr>
          <a:xfrm>
            <a:off x="6172200" y="1600200"/>
            <a:ext cx="5120640" cy="4389120"/>
          </a:xfrm>
          <a:prstGeom prst="rect">
            <a:avLst/>
          </a:prstGeom>
          <a:noFill/>
        </p:spPr>
        <p:txBody>
          <a:bodyPr wrap="square">
            <a:spAutoFit/>
          </a:bodyPr>
          <a:lstStyle/>
          <a:p>
            <a:pPr>
              <a:spcBef>
                <a:spcPts val="400"/>
              </a:spcBef>
            </a:pPr>
            <a:r>
              <a:rPr sz="1500">
                <a:solidFill>
                  <a:srgbClr val="212121"/>
                </a:solidFill>
              </a:rPr>
              <a:t>▸ $8.4 trillion global agri-food market by 2030</a:t>
            </a:r>
          </a:p>
          <a:p>
            <a:pPr>
              <a:spcBef>
                <a:spcPts val="400"/>
              </a:spcBef>
            </a:pPr>
            <a:r>
              <a:rPr sz="1500">
                <a:solidFill>
                  <a:srgbClr val="212121"/>
                </a:solidFill>
              </a:rPr>
              <a:t>▸ Digital agriculture market growing at 12% CAGR</a:t>
            </a:r>
          </a:p>
          <a:p>
            <a:pPr>
              <a:spcBef>
                <a:spcPts val="400"/>
              </a:spcBef>
            </a:pPr>
            <a:r>
              <a:rPr sz="1500">
                <a:solidFill>
                  <a:srgbClr val="212121"/>
                </a:solidFill>
              </a:rPr>
              <a:t>▸ Precision farming saves 15–25% on input costs</a:t>
            </a:r>
          </a:p>
          <a:p>
            <a:pPr>
              <a:spcBef>
                <a:spcPts val="400"/>
              </a:spcBef>
            </a:pPr>
            <a:r>
              <a:rPr sz="1500">
                <a:solidFill>
                  <a:srgbClr val="212121"/>
                </a:solidFill>
              </a:rPr>
              <a:t>▸ Value-chain modernization triples farmer income</a:t>
            </a:r>
          </a:p>
          <a:p>
            <a:pPr>
              <a:spcBef>
                <a:spcPts val="400"/>
              </a:spcBef>
            </a:pPr>
            <a:r>
              <a:rPr sz="1500">
                <a:solidFill>
                  <a:srgbClr val="212121"/>
                </a:solidFill>
              </a:rPr>
              <a:t>▸ Agri-tech investment reached $51 billion in 2023</a:t>
            </a:r>
          </a:p>
          <a:p>
            <a:pPr>
              <a:spcBef>
                <a:spcPts val="400"/>
              </a:spcBef>
            </a:pPr>
            <a:r>
              <a:rPr sz="1500">
                <a:solidFill>
                  <a:srgbClr val="212121"/>
                </a:solidFill>
              </a:rPr>
              <a:t>▸ Every $1 in ag R&amp;D yields $20 in economic return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Current Global Challenges in Agriculture</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Introduction</a:t>
            </a:r>
          </a:p>
        </p:txBody>
      </p:sp>
      <p:sp>
        <p:nvSpPr>
          <p:cNvPr id="5" name="Rectangle 4"/>
          <p:cNvSpPr/>
          <p:nvPr/>
        </p:nvSpPr>
        <p:spPr>
          <a:xfrm>
            <a:off x="320040" y="1097280"/>
            <a:ext cx="3566160" cy="13258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 y="1170432"/>
            <a:ext cx="3383280" cy="384048"/>
          </a:xfrm>
          <a:prstGeom prst="rect">
            <a:avLst/>
          </a:prstGeom>
          <a:noFill/>
        </p:spPr>
        <p:txBody>
          <a:bodyPr wrap="square">
            <a:spAutoFit/>
          </a:bodyPr>
          <a:lstStyle/>
          <a:p>
            <a:pPr algn="l"/>
            <a:r>
              <a:rPr sz="1400" b="1" i="0">
                <a:solidFill>
                  <a:srgbClr val="1B5E20"/>
                </a:solidFill>
              </a:rPr>
              <a:t>🌡  Climate Change</a:t>
            </a:r>
          </a:p>
        </p:txBody>
      </p:sp>
      <p:sp>
        <p:nvSpPr>
          <p:cNvPr id="7" name="TextBox 6"/>
          <p:cNvSpPr txBox="1"/>
          <p:nvPr/>
        </p:nvSpPr>
        <p:spPr>
          <a:xfrm>
            <a:off x="429768" y="1554480"/>
            <a:ext cx="3383280" cy="777240"/>
          </a:xfrm>
          <a:prstGeom prst="rect">
            <a:avLst/>
          </a:prstGeom>
          <a:noFill/>
        </p:spPr>
        <p:txBody>
          <a:bodyPr wrap="square">
            <a:spAutoFit/>
          </a:bodyPr>
          <a:lstStyle/>
          <a:p>
            <a:pPr algn="l"/>
            <a:r>
              <a:rPr sz="1200" b="0" i="0">
                <a:solidFill>
                  <a:srgbClr val="212121"/>
                </a:solidFill>
              </a:rPr>
              <a:t>Erratic rainfall, droughts, floods – crop failures rising 25% per decade</a:t>
            </a:r>
          </a:p>
        </p:txBody>
      </p:sp>
      <p:sp>
        <p:nvSpPr>
          <p:cNvPr id="8" name="Rectangle 7"/>
          <p:cNvSpPr/>
          <p:nvPr/>
        </p:nvSpPr>
        <p:spPr>
          <a:xfrm>
            <a:off x="4251960" y="1097280"/>
            <a:ext cx="3566160" cy="13258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61688" y="1170432"/>
            <a:ext cx="3383280" cy="384048"/>
          </a:xfrm>
          <a:prstGeom prst="rect">
            <a:avLst/>
          </a:prstGeom>
          <a:noFill/>
        </p:spPr>
        <p:txBody>
          <a:bodyPr wrap="square">
            <a:spAutoFit/>
          </a:bodyPr>
          <a:lstStyle/>
          <a:p>
            <a:pPr algn="l"/>
            <a:r>
              <a:rPr sz="1400" b="1" i="0">
                <a:solidFill>
                  <a:srgbClr val="1B5E20"/>
                </a:solidFill>
              </a:rPr>
              <a:t>🌱  Soil Degradation</a:t>
            </a:r>
          </a:p>
        </p:txBody>
      </p:sp>
      <p:sp>
        <p:nvSpPr>
          <p:cNvPr id="10" name="TextBox 9"/>
          <p:cNvSpPr txBox="1"/>
          <p:nvPr/>
        </p:nvSpPr>
        <p:spPr>
          <a:xfrm>
            <a:off x="4361688" y="1554480"/>
            <a:ext cx="3383280" cy="777240"/>
          </a:xfrm>
          <a:prstGeom prst="rect">
            <a:avLst/>
          </a:prstGeom>
          <a:noFill/>
        </p:spPr>
        <p:txBody>
          <a:bodyPr wrap="square">
            <a:spAutoFit/>
          </a:bodyPr>
          <a:lstStyle/>
          <a:p>
            <a:pPr algn="l"/>
            <a:r>
              <a:rPr sz="1200" b="0" i="0">
                <a:solidFill>
                  <a:srgbClr val="212121"/>
                </a:solidFill>
              </a:rPr>
              <a:t>33% of global soils degraded; $40B annual productivity loss</a:t>
            </a:r>
          </a:p>
        </p:txBody>
      </p:sp>
      <p:sp>
        <p:nvSpPr>
          <p:cNvPr id="11" name="Rectangle 10"/>
          <p:cNvSpPr/>
          <p:nvPr/>
        </p:nvSpPr>
        <p:spPr>
          <a:xfrm>
            <a:off x="8183879" y="1097280"/>
            <a:ext cx="3566160" cy="132588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3607" y="1170432"/>
            <a:ext cx="3383280" cy="384048"/>
          </a:xfrm>
          <a:prstGeom prst="rect">
            <a:avLst/>
          </a:prstGeom>
          <a:noFill/>
        </p:spPr>
        <p:txBody>
          <a:bodyPr wrap="square">
            <a:spAutoFit/>
          </a:bodyPr>
          <a:lstStyle/>
          <a:p>
            <a:pPr algn="l"/>
            <a:r>
              <a:rPr sz="1400" b="1" i="0">
                <a:solidFill>
                  <a:srgbClr val="1B5E20"/>
                </a:solidFill>
              </a:rPr>
              <a:t>💧  Water Scarcity</a:t>
            </a:r>
          </a:p>
        </p:txBody>
      </p:sp>
      <p:sp>
        <p:nvSpPr>
          <p:cNvPr id="13" name="TextBox 12"/>
          <p:cNvSpPr txBox="1"/>
          <p:nvPr/>
        </p:nvSpPr>
        <p:spPr>
          <a:xfrm>
            <a:off x="8293607" y="1554480"/>
            <a:ext cx="3383280" cy="777240"/>
          </a:xfrm>
          <a:prstGeom prst="rect">
            <a:avLst/>
          </a:prstGeom>
          <a:noFill/>
        </p:spPr>
        <p:txBody>
          <a:bodyPr wrap="square">
            <a:spAutoFit/>
          </a:bodyPr>
          <a:lstStyle/>
          <a:p>
            <a:pPr algn="l"/>
            <a:r>
              <a:rPr sz="1200" b="0" i="0">
                <a:solidFill>
                  <a:srgbClr val="212121"/>
                </a:solidFill>
              </a:rPr>
              <a:t>Agriculture uses 70% of freshwater; aquifers depleting in key growing regions</a:t>
            </a:r>
          </a:p>
        </p:txBody>
      </p:sp>
      <p:sp>
        <p:nvSpPr>
          <p:cNvPr id="14" name="Rectangle 13"/>
          <p:cNvSpPr/>
          <p:nvPr/>
        </p:nvSpPr>
        <p:spPr>
          <a:xfrm>
            <a:off x="320040" y="2560320"/>
            <a:ext cx="3566160" cy="1325880"/>
          </a:xfrm>
          <a:prstGeom prst="rect">
            <a:avLst/>
          </a:prstGeom>
          <a:solidFill>
            <a:srgbClr val="FFE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2633472"/>
            <a:ext cx="3383280" cy="384048"/>
          </a:xfrm>
          <a:prstGeom prst="rect">
            <a:avLst/>
          </a:prstGeom>
          <a:noFill/>
        </p:spPr>
        <p:txBody>
          <a:bodyPr wrap="square">
            <a:spAutoFit/>
          </a:bodyPr>
          <a:lstStyle/>
          <a:p>
            <a:pPr algn="l"/>
            <a:r>
              <a:rPr sz="1400" b="1" i="0">
                <a:solidFill>
                  <a:srgbClr val="1B5E20"/>
                </a:solidFill>
              </a:rPr>
              <a:t>👨‍🌾  Aging Farmer Population</a:t>
            </a:r>
          </a:p>
        </p:txBody>
      </p:sp>
      <p:sp>
        <p:nvSpPr>
          <p:cNvPr id="16" name="TextBox 15"/>
          <p:cNvSpPr txBox="1"/>
          <p:nvPr/>
        </p:nvSpPr>
        <p:spPr>
          <a:xfrm>
            <a:off x="429768" y="3017520"/>
            <a:ext cx="3383280" cy="777240"/>
          </a:xfrm>
          <a:prstGeom prst="rect">
            <a:avLst/>
          </a:prstGeom>
          <a:noFill/>
        </p:spPr>
        <p:txBody>
          <a:bodyPr wrap="square">
            <a:spAutoFit/>
          </a:bodyPr>
          <a:lstStyle/>
          <a:p>
            <a:pPr algn="l"/>
            <a:r>
              <a:rPr sz="1200" b="0" i="0">
                <a:solidFill>
                  <a:srgbClr val="212121"/>
                </a:solidFill>
              </a:rPr>
              <a:t>Average farmer age: 60 in developed, 45 in developing nations; youth exodus</a:t>
            </a:r>
          </a:p>
        </p:txBody>
      </p:sp>
      <p:sp>
        <p:nvSpPr>
          <p:cNvPr id="17" name="Rectangle 16"/>
          <p:cNvSpPr/>
          <p:nvPr/>
        </p:nvSpPr>
        <p:spPr>
          <a:xfrm>
            <a:off x="4251960" y="2560320"/>
            <a:ext cx="3566160" cy="13258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61688" y="2633472"/>
            <a:ext cx="3383280" cy="384048"/>
          </a:xfrm>
          <a:prstGeom prst="rect">
            <a:avLst/>
          </a:prstGeom>
          <a:noFill/>
        </p:spPr>
        <p:txBody>
          <a:bodyPr wrap="square">
            <a:spAutoFit/>
          </a:bodyPr>
          <a:lstStyle/>
          <a:p>
            <a:pPr algn="l"/>
            <a:r>
              <a:rPr sz="1400" b="1" i="0">
                <a:solidFill>
                  <a:srgbClr val="1B5E20"/>
                </a:solidFill>
              </a:rPr>
              <a:t>📦  Supply Chain Inefficiency</a:t>
            </a:r>
          </a:p>
        </p:txBody>
      </p:sp>
      <p:sp>
        <p:nvSpPr>
          <p:cNvPr id="19" name="TextBox 18"/>
          <p:cNvSpPr txBox="1"/>
          <p:nvPr/>
        </p:nvSpPr>
        <p:spPr>
          <a:xfrm>
            <a:off x="4361688" y="3017520"/>
            <a:ext cx="3383280" cy="777240"/>
          </a:xfrm>
          <a:prstGeom prst="rect">
            <a:avLst/>
          </a:prstGeom>
          <a:noFill/>
        </p:spPr>
        <p:txBody>
          <a:bodyPr wrap="square">
            <a:spAutoFit/>
          </a:bodyPr>
          <a:lstStyle/>
          <a:p>
            <a:pPr algn="l"/>
            <a:r>
              <a:rPr sz="1200" b="0" i="0">
                <a:solidFill>
                  <a:srgbClr val="212121"/>
                </a:solidFill>
              </a:rPr>
              <a:t>30–40% post-harvest losses; price volatility hurts farmers &amp; consumers</a:t>
            </a:r>
          </a:p>
        </p:txBody>
      </p:sp>
      <p:sp>
        <p:nvSpPr>
          <p:cNvPr id="20" name="Rectangle 19"/>
          <p:cNvSpPr/>
          <p:nvPr/>
        </p:nvSpPr>
        <p:spPr>
          <a:xfrm>
            <a:off x="8183879" y="2560320"/>
            <a:ext cx="3566160" cy="13258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7" y="2633472"/>
            <a:ext cx="3383280" cy="384048"/>
          </a:xfrm>
          <a:prstGeom prst="rect">
            <a:avLst/>
          </a:prstGeom>
          <a:noFill/>
        </p:spPr>
        <p:txBody>
          <a:bodyPr wrap="square">
            <a:spAutoFit/>
          </a:bodyPr>
          <a:lstStyle/>
          <a:p>
            <a:pPr algn="l"/>
            <a:r>
              <a:rPr sz="1400" b="1" i="0">
                <a:solidFill>
                  <a:srgbClr val="1B5E20"/>
                </a:solidFill>
              </a:rPr>
              <a:t>💰  Finance Gap</a:t>
            </a:r>
          </a:p>
        </p:txBody>
      </p:sp>
      <p:sp>
        <p:nvSpPr>
          <p:cNvPr id="22" name="TextBox 21"/>
          <p:cNvSpPr txBox="1"/>
          <p:nvPr/>
        </p:nvSpPr>
        <p:spPr>
          <a:xfrm>
            <a:off x="8293607" y="3017520"/>
            <a:ext cx="3383280" cy="777240"/>
          </a:xfrm>
          <a:prstGeom prst="rect">
            <a:avLst/>
          </a:prstGeom>
          <a:noFill/>
        </p:spPr>
        <p:txBody>
          <a:bodyPr wrap="square">
            <a:spAutoFit/>
          </a:bodyPr>
          <a:lstStyle/>
          <a:p>
            <a:pPr algn="l"/>
            <a:r>
              <a:rPr sz="1200" b="0" i="0">
                <a:solidFill>
                  <a:srgbClr val="212121"/>
                </a:solidFill>
              </a:rPr>
              <a:t>$170 billion annual financing gap for smallholder farmers globally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Technology Adoption: IoT, Drones &amp; Sensors</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Key Areas of Transformation</a:t>
            </a:r>
          </a:p>
        </p:txBody>
      </p:sp>
      <p:sp>
        <p:nvSpPr>
          <p:cNvPr id="5" name="Rectangle 4"/>
          <p:cNvSpPr/>
          <p:nvPr/>
        </p:nvSpPr>
        <p:spPr>
          <a:xfrm>
            <a:off x="274320" y="1051560"/>
            <a:ext cx="5486400" cy="21488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43000"/>
            <a:ext cx="5212080" cy="384048"/>
          </a:xfrm>
          <a:prstGeom prst="rect">
            <a:avLst/>
          </a:prstGeom>
          <a:noFill/>
        </p:spPr>
        <p:txBody>
          <a:bodyPr wrap="square">
            <a:spAutoFit/>
          </a:bodyPr>
          <a:lstStyle/>
          <a:p>
            <a:pPr algn="l"/>
            <a:r>
              <a:rPr sz="1500" b="1" i="0">
                <a:solidFill>
                  <a:srgbClr val="1B5E20"/>
                </a:solidFill>
              </a:rPr>
              <a:t>IoT &amp; Smart Sensors</a:t>
            </a:r>
          </a:p>
        </p:txBody>
      </p:sp>
      <p:sp>
        <p:nvSpPr>
          <p:cNvPr id="7" name="TextBox 6"/>
          <p:cNvSpPr txBox="1"/>
          <p:nvPr/>
        </p:nvSpPr>
        <p:spPr>
          <a:xfrm>
            <a:off x="411480" y="1554480"/>
            <a:ext cx="5212080" cy="1554480"/>
          </a:xfrm>
          <a:prstGeom prst="rect">
            <a:avLst/>
          </a:prstGeom>
          <a:noFill/>
        </p:spPr>
        <p:txBody>
          <a:bodyPr wrap="square">
            <a:spAutoFit/>
          </a:bodyPr>
          <a:lstStyle/>
          <a:p>
            <a:pPr>
              <a:spcBef>
                <a:spcPts val="400"/>
              </a:spcBef>
            </a:pPr>
            <a:r>
              <a:rPr sz="1300">
                <a:solidFill>
                  <a:srgbClr val="212121"/>
                </a:solidFill>
              </a:rPr>
              <a:t>▸ Soil moisture, pH, and nutrient monitors</a:t>
            </a:r>
          </a:p>
          <a:p>
            <a:pPr>
              <a:spcBef>
                <a:spcPts val="400"/>
              </a:spcBef>
            </a:pPr>
            <a:r>
              <a:rPr sz="1300">
                <a:solidFill>
                  <a:srgbClr val="212121"/>
                </a:solidFill>
              </a:rPr>
              <a:t>▸ Automated irrigation triggers – 30% water savings</a:t>
            </a:r>
          </a:p>
          <a:p>
            <a:pPr>
              <a:spcBef>
                <a:spcPts val="400"/>
              </a:spcBef>
            </a:pPr>
            <a:r>
              <a:rPr sz="1300">
                <a:solidFill>
                  <a:srgbClr val="212121"/>
                </a:solidFill>
              </a:rPr>
              <a:t>▸ Real-time microclimate weather stations</a:t>
            </a:r>
          </a:p>
        </p:txBody>
      </p:sp>
      <p:sp>
        <p:nvSpPr>
          <p:cNvPr id="8" name="Rectangle 7"/>
          <p:cNvSpPr/>
          <p:nvPr/>
        </p:nvSpPr>
        <p:spPr>
          <a:xfrm>
            <a:off x="6126480" y="1051560"/>
            <a:ext cx="5486400" cy="214884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143000"/>
            <a:ext cx="5212080" cy="384048"/>
          </a:xfrm>
          <a:prstGeom prst="rect">
            <a:avLst/>
          </a:prstGeom>
          <a:noFill/>
        </p:spPr>
        <p:txBody>
          <a:bodyPr wrap="square">
            <a:spAutoFit/>
          </a:bodyPr>
          <a:lstStyle/>
          <a:p>
            <a:pPr algn="l"/>
            <a:r>
              <a:rPr sz="1500" b="1" i="0">
                <a:solidFill>
                  <a:srgbClr val="1B5E20"/>
                </a:solidFill>
              </a:rPr>
              <a:t>Drone Technology</a:t>
            </a:r>
          </a:p>
        </p:txBody>
      </p:sp>
      <p:sp>
        <p:nvSpPr>
          <p:cNvPr id="10" name="TextBox 9"/>
          <p:cNvSpPr txBox="1"/>
          <p:nvPr/>
        </p:nvSpPr>
        <p:spPr>
          <a:xfrm>
            <a:off x="6263640" y="1554480"/>
            <a:ext cx="5212080" cy="1554480"/>
          </a:xfrm>
          <a:prstGeom prst="rect">
            <a:avLst/>
          </a:prstGeom>
          <a:noFill/>
        </p:spPr>
        <p:txBody>
          <a:bodyPr wrap="square">
            <a:spAutoFit/>
          </a:bodyPr>
          <a:lstStyle/>
          <a:p>
            <a:pPr>
              <a:spcBef>
                <a:spcPts val="400"/>
              </a:spcBef>
            </a:pPr>
            <a:r>
              <a:rPr sz="1300">
                <a:solidFill>
                  <a:srgbClr val="212121"/>
                </a:solidFill>
              </a:rPr>
              <a:t>▸ Crop health mapping via multispectral imaging</a:t>
            </a:r>
          </a:p>
          <a:p>
            <a:pPr>
              <a:spcBef>
                <a:spcPts val="400"/>
              </a:spcBef>
            </a:pPr>
            <a:r>
              <a:rPr sz="1300">
                <a:solidFill>
                  <a:srgbClr val="212121"/>
                </a:solidFill>
              </a:rPr>
              <a:t>▸ Precision pesticide &amp; fertiliser application (50% less chemicals)</a:t>
            </a:r>
          </a:p>
          <a:p>
            <a:pPr>
              <a:spcBef>
                <a:spcPts val="400"/>
              </a:spcBef>
            </a:pPr>
            <a:r>
              <a:rPr sz="1300">
                <a:solidFill>
                  <a:srgbClr val="212121"/>
                </a:solidFill>
              </a:rPr>
              <a:t>▸ Seed planting in hard-to-reach terrain</a:t>
            </a:r>
          </a:p>
        </p:txBody>
      </p:sp>
      <p:sp>
        <p:nvSpPr>
          <p:cNvPr id="11" name="Rectangle 10"/>
          <p:cNvSpPr/>
          <p:nvPr/>
        </p:nvSpPr>
        <p:spPr>
          <a:xfrm>
            <a:off x="274320" y="3383280"/>
            <a:ext cx="5486400" cy="214884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474720"/>
            <a:ext cx="5212080" cy="384048"/>
          </a:xfrm>
          <a:prstGeom prst="rect">
            <a:avLst/>
          </a:prstGeom>
          <a:noFill/>
        </p:spPr>
        <p:txBody>
          <a:bodyPr wrap="square">
            <a:spAutoFit/>
          </a:bodyPr>
          <a:lstStyle/>
          <a:p>
            <a:pPr algn="l"/>
            <a:r>
              <a:rPr sz="1500" b="1" i="0">
                <a:solidFill>
                  <a:srgbClr val="1B5E20"/>
                </a:solidFill>
              </a:rPr>
              <a:t>Satellite &amp; Remote Sensing</a:t>
            </a:r>
          </a:p>
        </p:txBody>
      </p:sp>
      <p:sp>
        <p:nvSpPr>
          <p:cNvPr id="13" name="TextBox 12"/>
          <p:cNvSpPr txBox="1"/>
          <p:nvPr/>
        </p:nvSpPr>
        <p:spPr>
          <a:xfrm>
            <a:off x="411480" y="3886200"/>
            <a:ext cx="5212080" cy="1554480"/>
          </a:xfrm>
          <a:prstGeom prst="rect">
            <a:avLst/>
          </a:prstGeom>
          <a:noFill/>
        </p:spPr>
        <p:txBody>
          <a:bodyPr wrap="square">
            <a:spAutoFit/>
          </a:bodyPr>
          <a:lstStyle/>
          <a:p>
            <a:pPr>
              <a:spcBef>
                <a:spcPts val="400"/>
              </a:spcBef>
            </a:pPr>
            <a:r>
              <a:rPr sz="1300">
                <a:solidFill>
                  <a:srgbClr val="212121"/>
                </a:solidFill>
              </a:rPr>
              <a:t>▸ NDVI mapping for large-scale crop monitoring</a:t>
            </a:r>
          </a:p>
          <a:p>
            <a:pPr>
              <a:spcBef>
                <a:spcPts val="400"/>
              </a:spcBef>
            </a:pPr>
            <a:r>
              <a:rPr sz="1300">
                <a:solidFill>
                  <a:srgbClr val="212121"/>
                </a:solidFill>
              </a:rPr>
              <a:t>▸ Early drought/flood prediction (2-4 weeks ahead)</a:t>
            </a:r>
          </a:p>
          <a:p>
            <a:pPr>
              <a:spcBef>
                <a:spcPts val="400"/>
              </a:spcBef>
            </a:pPr>
            <a:r>
              <a:rPr sz="1300">
                <a:solidFill>
                  <a:srgbClr val="212121"/>
                </a:solidFill>
              </a:rPr>
              <a:t>▸ Yield forecasting with ±8% accuracy</a:t>
            </a:r>
          </a:p>
        </p:txBody>
      </p:sp>
      <p:sp>
        <p:nvSpPr>
          <p:cNvPr id="14" name="Rectangle 13"/>
          <p:cNvSpPr/>
          <p:nvPr/>
        </p:nvSpPr>
        <p:spPr>
          <a:xfrm>
            <a:off x="6126480" y="3383280"/>
            <a:ext cx="5486400" cy="21488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3474720"/>
            <a:ext cx="5212080" cy="384048"/>
          </a:xfrm>
          <a:prstGeom prst="rect">
            <a:avLst/>
          </a:prstGeom>
          <a:noFill/>
        </p:spPr>
        <p:txBody>
          <a:bodyPr wrap="square">
            <a:spAutoFit/>
          </a:bodyPr>
          <a:lstStyle/>
          <a:p>
            <a:pPr algn="l"/>
            <a:r>
              <a:rPr sz="1500" b="1" i="0">
                <a:solidFill>
                  <a:srgbClr val="1B5E20"/>
                </a:solidFill>
              </a:rPr>
              <a:t>Farm Automation</a:t>
            </a:r>
          </a:p>
        </p:txBody>
      </p:sp>
      <p:sp>
        <p:nvSpPr>
          <p:cNvPr id="16" name="TextBox 15"/>
          <p:cNvSpPr txBox="1"/>
          <p:nvPr/>
        </p:nvSpPr>
        <p:spPr>
          <a:xfrm>
            <a:off x="6263640" y="3886200"/>
            <a:ext cx="5212080" cy="1554480"/>
          </a:xfrm>
          <a:prstGeom prst="rect">
            <a:avLst/>
          </a:prstGeom>
          <a:noFill/>
        </p:spPr>
        <p:txBody>
          <a:bodyPr wrap="square">
            <a:spAutoFit/>
          </a:bodyPr>
          <a:lstStyle/>
          <a:p>
            <a:pPr>
              <a:spcBef>
                <a:spcPts val="400"/>
              </a:spcBef>
            </a:pPr>
            <a:r>
              <a:rPr sz="1300">
                <a:solidFill>
                  <a:srgbClr val="212121"/>
                </a:solidFill>
              </a:rPr>
              <a:t>▸ GPS-guided tractors &amp; autonomous harvesters</a:t>
            </a:r>
          </a:p>
          <a:p>
            <a:pPr>
              <a:spcBef>
                <a:spcPts val="400"/>
              </a:spcBef>
            </a:pPr>
            <a:r>
              <a:rPr sz="1300">
                <a:solidFill>
                  <a:srgbClr val="212121"/>
                </a:solidFill>
              </a:rPr>
              <a:t>▸ Robotic weeding reduces labour costs 40%</a:t>
            </a:r>
          </a:p>
          <a:p>
            <a:pPr>
              <a:spcBef>
                <a:spcPts val="400"/>
              </a:spcBef>
            </a:pPr>
            <a:r>
              <a:rPr sz="1300">
                <a:solidFill>
                  <a:srgbClr val="212121"/>
                </a:solidFill>
              </a:rPr>
              <a:t>▸ Automated greenhouse management systems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Sustainable Farming Practices</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Key Areas of Transformation</a:t>
            </a:r>
          </a:p>
        </p:txBody>
      </p:sp>
      <p:sp>
        <p:nvSpPr>
          <p:cNvPr id="5" name="TextBox 4"/>
          <p:cNvSpPr txBox="1"/>
          <p:nvPr/>
        </p:nvSpPr>
        <p:spPr>
          <a:xfrm>
            <a:off x="365760" y="1051560"/>
            <a:ext cx="11430000" cy="457200"/>
          </a:xfrm>
          <a:prstGeom prst="rect">
            <a:avLst/>
          </a:prstGeom>
          <a:noFill/>
        </p:spPr>
        <p:txBody>
          <a:bodyPr wrap="square">
            <a:spAutoFit/>
          </a:bodyPr>
          <a:lstStyle/>
          <a:p>
            <a:pPr algn="l"/>
            <a:r>
              <a:rPr sz="1600" b="0" i="1">
                <a:solidFill>
                  <a:srgbClr val="5D4037"/>
                </a:solidFill>
              </a:rPr>
              <a:t>Practices that increase productivity while preserving natural resources for future generations</a:t>
            </a:r>
          </a:p>
        </p:txBody>
      </p:sp>
      <p:sp>
        <p:nvSpPr>
          <p:cNvPr id="6" name="Rectangle 5"/>
          <p:cNvSpPr/>
          <p:nvPr/>
        </p:nvSpPr>
        <p:spPr>
          <a:xfrm>
            <a:off x="365760" y="1600200"/>
            <a:ext cx="5669280" cy="13258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73352"/>
            <a:ext cx="5394960" cy="384048"/>
          </a:xfrm>
          <a:prstGeom prst="rect">
            <a:avLst/>
          </a:prstGeom>
          <a:noFill/>
        </p:spPr>
        <p:txBody>
          <a:bodyPr wrap="square">
            <a:spAutoFit/>
          </a:bodyPr>
          <a:lstStyle/>
          <a:p>
            <a:pPr algn="l"/>
            <a:r>
              <a:rPr sz="1400" b="1" i="0">
                <a:solidFill>
                  <a:srgbClr val="1B5E20"/>
                </a:solidFill>
              </a:rPr>
              <a:t>Conservation Agriculture</a:t>
            </a:r>
          </a:p>
        </p:txBody>
      </p:sp>
      <p:sp>
        <p:nvSpPr>
          <p:cNvPr id="8" name="TextBox 7"/>
          <p:cNvSpPr txBox="1"/>
          <p:nvPr/>
        </p:nvSpPr>
        <p:spPr>
          <a:xfrm>
            <a:off x="502920" y="2075688"/>
            <a:ext cx="5394960" cy="777240"/>
          </a:xfrm>
          <a:prstGeom prst="rect">
            <a:avLst/>
          </a:prstGeom>
          <a:noFill/>
        </p:spPr>
        <p:txBody>
          <a:bodyPr wrap="square">
            <a:spAutoFit/>
          </a:bodyPr>
          <a:lstStyle/>
          <a:p>
            <a:pPr algn="l"/>
            <a:r>
              <a:rPr sz="1200" b="0" i="0">
                <a:solidFill>
                  <a:srgbClr val="212121"/>
                </a:solidFill>
              </a:rPr>
              <a:t>Minimal tillage + crop residue retention reduces erosion 80%, sequesters carbon</a:t>
            </a:r>
          </a:p>
        </p:txBody>
      </p:sp>
      <p:sp>
        <p:nvSpPr>
          <p:cNvPr id="9" name="Rectangle 8"/>
          <p:cNvSpPr/>
          <p:nvPr/>
        </p:nvSpPr>
        <p:spPr>
          <a:xfrm>
            <a:off x="6355080" y="1600200"/>
            <a:ext cx="5669280" cy="13258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73352"/>
            <a:ext cx="5394960" cy="384048"/>
          </a:xfrm>
          <a:prstGeom prst="rect">
            <a:avLst/>
          </a:prstGeom>
          <a:noFill/>
        </p:spPr>
        <p:txBody>
          <a:bodyPr wrap="square">
            <a:spAutoFit/>
          </a:bodyPr>
          <a:lstStyle/>
          <a:p>
            <a:pPr algn="l"/>
            <a:r>
              <a:rPr sz="1400" b="1" i="0">
                <a:solidFill>
                  <a:srgbClr val="1B5E20"/>
                </a:solidFill>
              </a:rPr>
              <a:t>Integrated Pest Management</a:t>
            </a:r>
          </a:p>
        </p:txBody>
      </p:sp>
      <p:sp>
        <p:nvSpPr>
          <p:cNvPr id="11" name="TextBox 10"/>
          <p:cNvSpPr txBox="1"/>
          <p:nvPr/>
        </p:nvSpPr>
        <p:spPr>
          <a:xfrm>
            <a:off x="6492240" y="2075688"/>
            <a:ext cx="5394960" cy="777240"/>
          </a:xfrm>
          <a:prstGeom prst="rect">
            <a:avLst/>
          </a:prstGeom>
          <a:noFill/>
        </p:spPr>
        <p:txBody>
          <a:bodyPr wrap="square">
            <a:spAutoFit/>
          </a:bodyPr>
          <a:lstStyle/>
          <a:p>
            <a:pPr algn="l"/>
            <a:r>
              <a:rPr sz="1200" b="0" i="0">
                <a:solidFill>
                  <a:srgbClr val="212121"/>
                </a:solidFill>
              </a:rPr>
              <a:t>Biological controls + targeted chemicals cut pesticide use 50% with equal protection</a:t>
            </a:r>
          </a:p>
        </p:txBody>
      </p:sp>
      <p:sp>
        <p:nvSpPr>
          <p:cNvPr id="12" name="Rectangle 11"/>
          <p:cNvSpPr/>
          <p:nvPr/>
        </p:nvSpPr>
        <p:spPr>
          <a:xfrm>
            <a:off x="365760" y="3017520"/>
            <a:ext cx="5669280" cy="13258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90672"/>
            <a:ext cx="5394960" cy="384048"/>
          </a:xfrm>
          <a:prstGeom prst="rect">
            <a:avLst/>
          </a:prstGeom>
          <a:noFill/>
        </p:spPr>
        <p:txBody>
          <a:bodyPr wrap="square">
            <a:spAutoFit/>
          </a:bodyPr>
          <a:lstStyle/>
          <a:p>
            <a:pPr algn="l"/>
            <a:r>
              <a:rPr sz="1400" b="1" i="0">
                <a:solidFill>
                  <a:srgbClr val="1B5E20"/>
                </a:solidFill>
              </a:rPr>
              <a:t>Agroforestry</a:t>
            </a:r>
          </a:p>
        </p:txBody>
      </p:sp>
      <p:sp>
        <p:nvSpPr>
          <p:cNvPr id="14" name="TextBox 13"/>
          <p:cNvSpPr txBox="1"/>
          <p:nvPr/>
        </p:nvSpPr>
        <p:spPr>
          <a:xfrm>
            <a:off x="502920" y="3493008"/>
            <a:ext cx="5394960" cy="777240"/>
          </a:xfrm>
          <a:prstGeom prst="rect">
            <a:avLst/>
          </a:prstGeom>
          <a:noFill/>
        </p:spPr>
        <p:txBody>
          <a:bodyPr wrap="square">
            <a:spAutoFit/>
          </a:bodyPr>
          <a:lstStyle/>
          <a:p>
            <a:pPr algn="l"/>
            <a:r>
              <a:rPr sz="1200" b="0" i="0">
                <a:solidFill>
                  <a:srgbClr val="212121"/>
                </a:solidFill>
              </a:rPr>
              <a:t>Trees on farms improve soil, diversify income and sequester 1–4 tonne CO₂/ha/year</a:t>
            </a:r>
          </a:p>
        </p:txBody>
      </p:sp>
      <p:sp>
        <p:nvSpPr>
          <p:cNvPr id="15" name="Rectangle 14"/>
          <p:cNvSpPr/>
          <p:nvPr/>
        </p:nvSpPr>
        <p:spPr>
          <a:xfrm>
            <a:off x="6355080" y="3017520"/>
            <a:ext cx="5669280" cy="13258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090672"/>
            <a:ext cx="5394960" cy="384048"/>
          </a:xfrm>
          <a:prstGeom prst="rect">
            <a:avLst/>
          </a:prstGeom>
          <a:noFill/>
        </p:spPr>
        <p:txBody>
          <a:bodyPr wrap="square">
            <a:spAutoFit/>
          </a:bodyPr>
          <a:lstStyle/>
          <a:p>
            <a:pPr algn="l"/>
            <a:r>
              <a:rPr sz="1400" b="1" i="0">
                <a:solidFill>
                  <a:srgbClr val="1B5E20"/>
                </a:solidFill>
              </a:rPr>
              <a:t>Crop Rotation &amp; Diversification</a:t>
            </a:r>
          </a:p>
        </p:txBody>
      </p:sp>
      <p:sp>
        <p:nvSpPr>
          <p:cNvPr id="17" name="TextBox 16"/>
          <p:cNvSpPr txBox="1"/>
          <p:nvPr/>
        </p:nvSpPr>
        <p:spPr>
          <a:xfrm>
            <a:off x="6492240" y="3493008"/>
            <a:ext cx="5394960" cy="777240"/>
          </a:xfrm>
          <a:prstGeom prst="rect">
            <a:avLst/>
          </a:prstGeom>
          <a:noFill/>
        </p:spPr>
        <p:txBody>
          <a:bodyPr wrap="square">
            <a:spAutoFit/>
          </a:bodyPr>
          <a:lstStyle/>
          <a:p>
            <a:pPr algn="l"/>
            <a:r>
              <a:rPr sz="1200" b="0" i="0">
                <a:solidFill>
                  <a:srgbClr val="212121"/>
                </a:solidFill>
              </a:rPr>
              <a:t>Breaking pest cycles, improving soil biology, and reducing market risk</a:t>
            </a:r>
          </a:p>
        </p:txBody>
      </p:sp>
      <p:sp>
        <p:nvSpPr>
          <p:cNvPr id="18" name="Rectangle 17"/>
          <p:cNvSpPr/>
          <p:nvPr/>
        </p:nvSpPr>
        <p:spPr>
          <a:xfrm>
            <a:off x="365760" y="4434840"/>
            <a:ext cx="5669280" cy="13258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507992"/>
            <a:ext cx="5394960" cy="384048"/>
          </a:xfrm>
          <a:prstGeom prst="rect">
            <a:avLst/>
          </a:prstGeom>
          <a:noFill/>
        </p:spPr>
        <p:txBody>
          <a:bodyPr wrap="square">
            <a:spAutoFit/>
          </a:bodyPr>
          <a:lstStyle/>
          <a:p>
            <a:pPr algn="l"/>
            <a:r>
              <a:rPr sz="1400" b="1" i="0">
                <a:solidFill>
                  <a:srgbClr val="1B5E20"/>
                </a:solidFill>
              </a:rPr>
              <a:t>Water-Efficient Irrigation</a:t>
            </a:r>
          </a:p>
        </p:txBody>
      </p:sp>
      <p:sp>
        <p:nvSpPr>
          <p:cNvPr id="20" name="TextBox 19"/>
          <p:cNvSpPr txBox="1"/>
          <p:nvPr/>
        </p:nvSpPr>
        <p:spPr>
          <a:xfrm>
            <a:off x="502920" y="4910328"/>
            <a:ext cx="5394960" cy="777240"/>
          </a:xfrm>
          <a:prstGeom prst="rect">
            <a:avLst/>
          </a:prstGeom>
          <a:noFill/>
        </p:spPr>
        <p:txBody>
          <a:bodyPr wrap="square">
            <a:spAutoFit/>
          </a:bodyPr>
          <a:lstStyle/>
          <a:p>
            <a:pPr algn="l"/>
            <a:r>
              <a:rPr sz="1200" b="0" i="0">
                <a:solidFill>
                  <a:srgbClr val="212121"/>
                </a:solidFill>
              </a:rPr>
              <a:t>Drip/sprinkler systems reduce water use 40–60% versus flood irrigation</a:t>
            </a:r>
          </a:p>
        </p:txBody>
      </p:sp>
      <p:sp>
        <p:nvSpPr>
          <p:cNvPr id="21" name="Rectangle 20"/>
          <p:cNvSpPr/>
          <p:nvPr/>
        </p:nvSpPr>
        <p:spPr>
          <a:xfrm>
            <a:off x="6355080" y="4434840"/>
            <a:ext cx="5669280" cy="13258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507992"/>
            <a:ext cx="5394960" cy="384048"/>
          </a:xfrm>
          <a:prstGeom prst="rect">
            <a:avLst/>
          </a:prstGeom>
          <a:noFill/>
        </p:spPr>
        <p:txBody>
          <a:bodyPr wrap="square">
            <a:spAutoFit/>
          </a:bodyPr>
          <a:lstStyle/>
          <a:p>
            <a:pPr algn="l"/>
            <a:r>
              <a:rPr sz="1400" b="1" i="0">
                <a:solidFill>
                  <a:srgbClr val="1B5E20"/>
                </a:solidFill>
              </a:rPr>
              <a:t>Organic &amp; Regenerative Methods</a:t>
            </a:r>
          </a:p>
        </p:txBody>
      </p:sp>
      <p:sp>
        <p:nvSpPr>
          <p:cNvPr id="23" name="TextBox 22"/>
          <p:cNvSpPr txBox="1"/>
          <p:nvPr/>
        </p:nvSpPr>
        <p:spPr>
          <a:xfrm>
            <a:off x="6492240" y="4910328"/>
            <a:ext cx="5394960" cy="777240"/>
          </a:xfrm>
          <a:prstGeom prst="rect">
            <a:avLst/>
          </a:prstGeom>
          <a:noFill/>
        </p:spPr>
        <p:txBody>
          <a:bodyPr wrap="square">
            <a:spAutoFit/>
          </a:bodyPr>
          <a:lstStyle/>
          <a:p>
            <a:pPr algn="l"/>
            <a:r>
              <a:rPr sz="1200" b="0" i="0">
                <a:solidFill>
                  <a:srgbClr val="212121"/>
                </a:solidFill>
              </a:rPr>
              <a:t>Rebuilds soil organic matter 0.5–1% per year; premium markets offer 20–30% price uplift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Climate-Smart Agriculture (CSA)</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Key Areas of Transformation</a:t>
            </a:r>
          </a:p>
        </p:txBody>
      </p:sp>
      <p:sp>
        <p:nvSpPr>
          <p:cNvPr id="5" name="Rectangle 4"/>
          <p:cNvSpPr/>
          <p:nvPr/>
        </p:nvSpPr>
        <p:spPr>
          <a:xfrm>
            <a:off x="320040" y="1051560"/>
            <a:ext cx="3566160" cy="5486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051560"/>
            <a:ext cx="3566160" cy="548640"/>
          </a:xfrm>
          <a:prstGeom prst="rect">
            <a:avLst/>
          </a:prstGeom>
          <a:noFill/>
        </p:spPr>
        <p:txBody>
          <a:bodyPr wrap="square">
            <a:spAutoFit/>
          </a:bodyPr>
          <a:lstStyle/>
          <a:p>
            <a:pPr algn="ctr"/>
            <a:r>
              <a:rPr sz="1700" b="1" i="0">
                <a:solidFill>
                  <a:srgbClr val="FFFFFF"/>
                </a:solidFill>
              </a:rPr>
              <a:t>PRODUCTIVITY</a:t>
            </a:r>
          </a:p>
        </p:txBody>
      </p:sp>
      <p:sp>
        <p:nvSpPr>
          <p:cNvPr id="7" name="Rectangle 6"/>
          <p:cNvSpPr/>
          <p:nvPr/>
        </p:nvSpPr>
        <p:spPr>
          <a:xfrm>
            <a:off x="320040" y="1600200"/>
            <a:ext cx="3566160" cy="46634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91640"/>
            <a:ext cx="3291840" cy="4389120"/>
          </a:xfrm>
          <a:prstGeom prst="rect">
            <a:avLst/>
          </a:prstGeom>
          <a:noFill/>
        </p:spPr>
        <p:txBody>
          <a:bodyPr wrap="square">
            <a:spAutoFit/>
          </a:bodyPr>
          <a:lstStyle/>
          <a:p>
            <a:pPr>
              <a:spcBef>
                <a:spcPts val="400"/>
              </a:spcBef>
            </a:pPr>
            <a:r>
              <a:rPr sz="1400">
                <a:solidFill>
                  <a:srgbClr val="212121"/>
                </a:solidFill>
              </a:rPr>
              <a:t>▸ Climate-resilient crop varieties</a:t>
            </a:r>
          </a:p>
          <a:p>
            <a:pPr>
              <a:spcBef>
                <a:spcPts val="400"/>
              </a:spcBef>
            </a:pPr>
            <a:r>
              <a:rPr sz="1400">
                <a:solidFill>
                  <a:srgbClr val="212121"/>
                </a:solidFill>
              </a:rPr>
              <a:t>▸ Drought/flood-tolerant seeds</a:t>
            </a:r>
          </a:p>
          <a:p>
            <a:pPr>
              <a:spcBef>
                <a:spcPts val="400"/>
              </a:spcBef>
            </a:pPr>
            <a:r>
              <a:rPr sz="1400">
                <a:solidFill>
                  <a:srgbClr val="212121"/>
                </a:solidFill>
              </a:rPr>
              <a:t>▸ Adaptive cropping calendars</a:t>
            </a:r>
          </a:p>
          <a:p>
            <a:pPr>
              <a:spcBef>
                <a:spcPts val="400"/>
              </a:spcBef>
            </a:pPr>
            <a:r>
              <a:rPr sz="1400">
                <a:solidFill>
                  <a:srgbClr val="212121"/>
                </a:solidFill>
              </a:rPr>
              <a:t>▸ Index-based crop insurance</a:t>
            </a:r>
          </a:p>
        </p:txBody>
      </p:sp>
      <p:sp>
        <p:nvSpPr>
          <p:cNvPr id="9" name="Rectangle 8"/>
          <p:cNvSpPr/>
          <p:nvPr/>
        </p:nvSpPr>
        <p:spPr>
          <a:xfrm>
            <a:off x="4069080" y="1051560"/>
            <a:ext cx="3566160" cy="54864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69080" y="1051560"/>
            <a:ext cx="3566160" cy="548640"/>
          </a:xfrm>
          <a:prstGeom prst="rect">
            <a:avLst/>
          </a:prstGeom>
          <a:noFill/>
        </p:spPr>
        <p:txBody>
          <a:bodyPr wrap="square">
            <a:spAutoFit/>
          </a:bodyPr>
          <a:lstStyle/>
          <a:p>
            <a:pPr algn="ctr"/>
            <a:r>
              <a:rPr sz="1700" b="1" i="0">
                <a:solidFill>
                  <a:srgbClr val="FFFFFF"/>
                </a:solidFill>
              </a:rPr>
              <a:t>ADAPTATION</a:t>
            </a:r>
          </a:p>
        </p:txBody>
      </p:sp>
      <p:sp>
        <p:nvSpPr>
          <p:cNvPr id="11" name="Rectangle 10"/>
          <p:cNvSpPr/>
          <p:nvPr/>
        </p:nvSpPr>
        <p:spPr>
          <a:xfrm>
            <a:off x="4069080" y="1600200"/>
            <a:ext cx="3566160" cy="46634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691640"/>
            <a:ext cx="3291840" cy="4389120"/>
          </a:xfrm>
          <a:prstGeom prst="rect">
            <a:avLst/>
          </a:prstGeom>
          <a:noFill/>
        </p:spPr>
        <p:txBody>
          <a:bodyPr wrap="square">
            <a:spAutoFit/>
          </a:bodyPr>
          <a:lstStyle/>
          <a:p>
            <a:pPr>
              <a:spcBef>
                <a:spcPts val="400"/>
              </a:spcBef>
            </a:pPr>
            <a:r>
              <a:rPr sz="1400">
                <a:solidFill>
                  <a:srgbClr val="212121"/>
                </a:solidFill>
              </a:rPr>
              <a:t>▸ Weather-based advisory services</a:t>
            </a:r>
          </a:p>
          <a:p>
            <a:pPr>
              <a:spcBef>
                <a:spcPts val="400"/>
              </a:spcBef>
            </a:pPr>
            <a:r>
              <a:rPr sz="1400">
                <a:solidFill>
                  <a:srgbClr val="212121"/>
                </a:solidFill>
              </a:rPr>
              <a:t>▸ Diversified farming systems</a:t>
            </a:r>
          </a:p>
          <a:p>
            <a:pPr>
              <a:spcBef>
                <a:spcPts val="400"/>
              </a:spcBef>
            </a:pPr>
            <a:r>
              <a:rPr sz="1400">
                <a:solidFill>
                  <a:srgbClr val="212121"/>
                </a:solidFill>
              </a:rPr>
              <a:t>▸ Soil water conservation</a:t>
            </a:r>
          </a:p>
          <a:p>
            <a:pPr>
              <a:spcBef>
                <a:spcPts val="400"/>
              </a:spcBef>
            </a:pPr>
            <a:r>
              <a:rPr sz="1400">
                <a:solidFill>
                  <a:srgbClr val="212121"/>
                </a:solidFill>
              </a:rPr>
              <a:t>▸ Early warning systems</a:t>
            </a:r>
          </a:p>
        </p:txBody>
      </p:sp>
      <p:sp>
        <p:nvSpPr>
          <p:cNvPr id="13" name="Rectangle 12"/>
          <p:cNvSpPr/>
          <p:nvPr/>
        </p:nvSpPr>
        <p:spPr>
          <a:xfrm>
            <a:off x="7818120" y="1051560"/>
            <a:ext cx="3566160" cy="54864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1051560"/>
            <a:ext cx="3566160" cy="548640"/>
          </a:xfrm>
          <a:prstGeom prst="rect">
            <a:avLst/>
          </a:prstGeom>
          <a:noFill/>
        </p:spPr>
        <p:txBody>
          <a:bodyPr wrap="square">
            <a:spAutoFit/>
          </a:bodyPr>
          <a:lstStyle/>
          <a:p>
            <a:pPr algn="ctr"/>
            <a:r>
              <a:rPr sz="1700" b="1" i="0">
                <a:solidFill>
                  <a:srgbClr val="FFFFFF"/>
                </a:solidFill>
              </a:rPr>
              <a:t>MITIGATION</a:t>
            </a:r>
          </a:p>
        </p:txBody>
      </p:sp>
      <p:sp>
        <p:nvSpPr>
          <p:cNvPr id="15" name="Rectangle 14"/>
          <p:cNvSpPr/>
          <p:nvPr/>
        </p:nvSpPr>
        <p:spPr>
          <a:xfrm>
            <a:off x="7818120" y="1600200"/>
            <a:ext cx="3566160" cy="46634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691640"/>
            <a:ext cx="3291840" cy="4389120"/>
          </a:xfrm>
          <a:prstGeom prst="rect">
            <a:avLst/>
          </a:prstGeom>
          <a:noFill/>
        </p:spPr>
        <p:txBody>
          <a:bodyPr wrap="square">
            <a:spAutoFit/>
          </a:bodyPr>
          <a:lstStyle/>
          <a:p>
            <a:pPr>
              <a:spcBef>
                <a:spcPts val="400"/>
              </a:spcBef>
            </a:pPr>
            <a:r>
              <a:rPr sz="1400">
                <a:solidFill>
                  <a:srgbClr val="212121"/>
                </a:solidFill>
              </a:rPr>
              <a:t>▸ Reduced tillage &amp; residue mgmt.</a:t>
            </a:r>
          </a:p>
          <a:p>
            <a:pPr>
              <a:spcBef>
                <a:spcPts val="400"/>
              </a:spcBef>
            </a:pPr>
            <a:r>
              <a:rPr sz="1400">
                <a:solidFill>
                  <a:srgbClr val="212121"/>
                </a:solidFill>
              </a:rPr>
              <a:t>▸ Improved livestock feed efficiency</a:t>
            </a:r>
          </a:p>
          <a:p>
            <a:pPr>
              <a:spcBef>
                <a:spcPts val="400"/>
              </a:spcBef>
            </a:pPr>
            <a:r>
              <a:rPr sz="1400">
                <a:solidFill>
                  <a:srgbClr val="212121"/>
                </a:solidFill>
              </a:rPr>
              <a:t>▸ Biogas from agricultural waste</a:t>
            </a:r>
          </a:p>
          <a:p>
            <a:pPr>
              <a:spcBef>
                <a:spcPts val="400"/>
              </a:spcBef>
            </a:pPr>
            <a:r>
              <a:rPr sz="1400">
                <a:solidFill>
                  <a:srgbClr val="212121"/>
                </a:solidFill>
              </a:rPr>
              <a:t>▸ Agroforestry carbon sequestration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Digital Tools &amp; Data Analytics</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Key Areas of Transformation</a:t>
            </a:r>
          </a:p>
        </p:txBody>
      </p:sp>
      <p:sp>
        <p:nvSpPr>
          <p:cNvPr id="5" name="Rectangle 4"/>
          <p:cNvSpPr/>
          <p:nvPr/>
        </p:nvSpPr>
        <p:spPr>
          <a:xfrm>
            <a:off x="320040" y="1097280"/>
            <a:ext cx="5669280" cy="1554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70432"/>
            <a:ext cx="5394960" cy="384048"/>
          </a:xfrm>
          <a:prstGeom prst="rect">
            <a:avLst/>
          </a:prstGeom>
          <a:noFill/>
        </p:spPr>
        <p:txBody>
          <a:bodyPr wrap="square">
            <a:spAutoFit/>
          </a:bodyPr>
          <a:lstStyle/>
          <a:p>
            <a:pPr algn="l"/>
            <a:r>
              <a:rPr sz="1400" b="1" i="0">
                <a:solidFill>
                  <a:srgbClr val="1B5E20"/>
                </a:solidFill>
              </a:rPr>
              <a:t>Farm Management Software</a:t>
            </a:r>
          </a:p>
        </p:txBody>
      </p:sp>
      <p:sp>
        <p:nvSpPr>
          <p:cNvPr id="7" name="TextBox 6"/>
          <p:cNvSpPr txBox="1"/>
          <p:nvPr/>
        </p:nvSpPr>
        <p:spPr>
          <a:xfrm>
            <a:off x="457200" y="1572768"/>
            <a:ext cx="5394960" cy="1005840"/>
          </a:xfrm>
          <a:prstGeom prst="rect">
            <a:avLst/>
          </a:prstGeom>
          <a:noFill/>
        </p:spPr>
        <p:txBody>
          <a:bodyPr wrap="square">
            <a:spAutoFit/>
          </a:bodyPr>
          <a:lstStyle/>
          <a:p>
            <a:pPr algn="l"/>
            <a:r>
              <a:rPr sz="1200" b="0" i="0">
                <a:solidFill>
                  <a:srgbClr val="212121"/>
                </a:solidFill>
              </a:rPr>
              <a:t>End-to-end record keeping, planning, and cost tracking on mobile/tablet platforms</a:t>
            </a:r>
          </a:p>
        </p:txBody>
      </p:sp>
      <p:sp>
        <p:nvSpPr>
          <p:cNvPr id="8" name="Rectangle 7"/>
          <p:cNvSpPr/>
          <p:nvPr/>
        </p:nvSpPr>
        <p:spPr>
          <a:xfrm>
            <a:off x="6309360" y="1097280"/>
            <a:ext cx="5669280" cy="15544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170432"/>
            <a:ext cx="5394960" cy="384048"/>
          </a:xfrm>
          <a:prstGeom prst="rect">
            <a:avLst/>
          </a:prstGeom>
          <a:noFill/>
        </p:spPr>
        <p:txBody>
          <a:bodyPr wrap="square">
            <a:spAutoFit/>
          </a:bodyPr>
          <a:lstStyle/>
          <a:p>
            <a:pPr algn="l"/>
            <a:r>
              <a:rPr sz="1400" b="1" i="0">
                <a:solidFill>
                  <a:srgbClr val="1B5E20"/>
                </a:solidFill>
              </a:rPr>
              <a:t>AI &amp; Machine Learning</a:t>
            </a:r>
          </a:p>
        </p:txBody>
      </p:sp>
      <p:sp>
        <p:nvSpPr>
          <p:cNvPr id="10" name="TextBox 9"/>
          <p:cNvSpPr txBox="1"/>
          <p:nvPr/>
        </p:nvSpPr>
        <p:spPr>
          <a:xfrm>
            <a:off x="6446520" y="1572768"/>
            <a:ext cx="5394960" cy="1005840"/>
          </a:xfrm>
          <a:prstGeom prst="rect">
            <a:avLst/>
          </a:prstGeom>
          <a:noFill/>
        </p:spPr>
        <p:txBody>
          <a:bodyPr wrap="square">
            <a:spAutoFit/>
          </a:bodyPr>
          <a:lstStyle/>
          <a:p>
            <a:pPr algn="l"/>
            <a:r>
              <a:rPr sz="1200" b="0" i="0">
                <a:solidFill>
                  <a:srgbClr val="212121"/>
                </a:solidFill>
              </a:rPr>
              <a:t>Yield prediction models (±5% accuracy), disease detection from images in seconds</a:t>
            </a:r>
          </a:p>
        </p:txBody>
      </p:sp>
      <p:sp>
        <p:nvSpPr>
          <p:cNvPr id="11" name="Rectangle 10"/>
          <p:cNvSpPr/>
          <p:nvPr/>
        </p:nvSpPr>
        <p:spPr>
          <a:xfrm>
            <a:off x="320040" y="2743200"/>
            <a:ext cx="5669280" cy="1554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816352"/>
            <a:ext cx="5394960" cy="384048"/>
          </a:xfrm>
          <a:prstGeom prst="rect">
            <a:avLst/>
          </a:prstGeom>
          <a:noFill/>
        </p:spPr>
        <p:txBody>
          <a:bodyPr wrap="square">
            <a:spAutoFit/>
          </a:bodyPr>
          <a:lstStyle/>
          <a:p>
            <a:pPr algn="l"/>
            <a:r>
              <a:rPr sz="1400" b="1" i="0">
                <a:solidFill>
                  <a:srgbClr val="1B5E20"/>
                </a:solidFill>
              </a:rPr>
              <a:t>Big Data &amp; Market Intelligence</a:t>
            </a:r>
          </a:p>
        </p:txBody>
      </p:sp>
      <p:sp>
        <p:nvSpPr>
          <p:cNvPr id="13" name="TextBox 12"/>
          <p:cNvSpPr txBox="1"/>
          <p:nvPr/>
        </p:nvSpPr>
        <p:spPr>
          <a:xfrm>
            <a:off x="457200" y="3218688"/>
            <a:ext cx="5394960" cy="1005840"/>
          </a:xfrm>
          <a:prstGeom prst="rect">
            <a:avLst/>
          </a:prstGeom>
          <a:noFill/>
        </p:spPr>
        <p:txBody>
          <a:bodyPr wrap="square">
            <a:spAutoFit/>
          </a:bodyPr>
          <a:lstStyle/>
          <a:p>
            <a:pPr algn="l"/>
            <a:r>
              <a:rPr sz="1200" b="0" i="0">
                <a:solidFill>
                  <a:srgbClr val="212121"/>
                </a:solidFill>
              </a:rPr>
              <a:t>Price forecasting, demand signals, and export-market matching for farmer groups</a:t>
            </a:r>
          </a:p>
        </p:txBody>
      </p:sp>
      <p:sp>
        <p:nvSpPr>
          <p:cNvPr id="14" name="Rectangle 13"/>
          <p:cNvSpPr/>
          <p:nvPr/>
        </p:nvSpPr>
        <p:spPr>
          <a:xfrm>
            <a:off x="6309360" y="2743200"/>
            <a:ext cx="5669280" cy="15544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816352"/>
            <a:ext cx="5394960" cy="384048"/>
          </a:xfrm>
          <a:prstGeom prst="rect">
            <a:avLst/>
          </a:prstGeom>
          <a:noFill/>
        </p:spPr>
        <p:txBody>
          <a:bodyPr wrap="square">
            <a:spAutoFit/>
          </a:bodyPr>
          <a:lstStyle/>
          <a:p>
            <a:pPr algn="l"/>
            <a:r>
              <a:rPr sz="1400" b="1" i="0">
                <a:solidFill>
                  <a:srgbClr val="1B5E20"/>
                </a:solidFill>
              </a:rPr>
              <a:t>Blockchain for Traceability</a:t>
            </a:r>
          </a:p>
        </p:txBody>
      </p:sp>
      <p:sp>
        <p:nvSpPr>
          <p:cNvPr id="16" name="TextBox 15"/>
          <p:cNvSpPr txBox="1"/>
          <p:nvPr/>
        </p:nvSpPr>
        <p:spPr>
          <a:xfrm>
            <a:off x="6446520" y="3218688"/>
            <a:ext cx="5394960" cy="1005840"/>
          </a:xfrm>
          <a:prstGeom prst="rect">
            <a:avLst/>
          </a:prstGeom>
          <a:noFill/>
        </p:spPr>
        <p:txBody>
          <a:bodyPr wrap="square">
            <a:spAutoFit/>
          </a:bodyPr>
          <a:lstStyle/>
          <a:p>
            <a:pPr algn="l"/>
            <a:r>
              <a:rPr sz="1200" b="0" i="0">
                <a:solidFill>
                  <a:srgbClr val="212121"/>
                </a:solidFill>
              </a:rPr>
              <a:t>Farm-to-fork transparency; premium price uplift of 10–25% for verified sustainable produce</a:t>
            </a:r>
          </a:p>
        </p:txBody>
      </p:sp>
      <p:sp>
        <p:nvSpPr>
          <p:cNvPr id="17" name="Rectangle 16"/>
          <p:cNvSpPr/>
          <p:nvPr/>
        </p:nvSpPr>
        <p:spPr>
          <a:xfrm>
            <a:off x="320040" y="4389120"/>
            <a:ext cx="5669280" cy="1554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462272"/>
            <a:ext cx="5394960" cy="384048"/>
          </a:xfrm>
          <a:prstGeom prst="rect">
            <a:avLst/>
          </a:prstGeom>
          <a:noFill/>
        </p:spPr>
        <p:txBody>
          <a:bodyPr wrap="square">
            <a:spAutoFit/>
          </a:bodyPr>
          <a:lstStyle/>
          <a:p>
            <a:pPr algn="l"/>
            <a:r>
              <a:rPr sz="1400" b="1" i="0">
                <a:solidFill>
                  <a:srgbClr val="1B5E20"/>
                </a:solidFill>
              </a:rPr>
              <a:t>Mobile Financial Services</a:t>
            </a:r>
          </a:p>
        </p:txBody>
      </p:sp>
      <p:sp>
        <p:nvSpPr>
          <p:cNvPr id="19" name="TextBox 18"/>
          <p:cNvSpPr txBox="1"/>
          <p:nvPr/>
        </p:nvSpPr>
        <p:spPr>
          <a:xfrm>
            <a:off x="457200" y="4864608"/>
            <a:ext cx="5394960" cy="1005840"/>
          </a:xfrm>
          <a:prstGeom prst="rect">
            <a:avLst/>
          </a:prstGeom>
          <a:noFill/>
        </p:spPr>
        <p:txBody>
          <a:bodyPr wrap="square">
            <a:spAutoFit/>
          </a:bodyPr>
          <a:lstStyle/>
          <a:p>
            <a:pPr algn="l"/>
            <a:r>
              <a:rPr sz="1200" b="0" i="0">
                <a:solidFill>
                  <a:srgbClr val="212121"/>
                </a:solidFill>
              </a:rPr>
              <a:t>Digital credit scoring, mobile insurance, instant payments – reaching unbanked farmers</a:t>
            </a:r>
          </a:p>
        </p:txBody>
      </p:sp>
      <p:sp>
        <p:nvSpPr>
          <p:cNvPr id="20" name="Rectangle 19"/>
          <p:cNvSpPr/>
          <p:nvPr/>
        </p:nvSpPr>
        <p:spPr>
          <a:xfrm>
            <a:off x="6309360" y="4389120"/>
            <a:ext cx="5669280" cy="15544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462272"/>
            <a:ext cx="5394960" cy="384048"/>
          </a:xfrm>
          <a:prstGeom prst="rect">
            <a:avLst/>
          </a:prstGeom>
          <a:noFill/>
        </p:spPr>
        <p:txBody>
          <a:bodyPr wrap="square">
            <a:spAutoFit/>
          </a:bodyPr>
          <a:lstStyle/>
          <a:p>
            <a:pPr algn="l"/>
            <a:r>
              <a:rPr sz="1400" b="1" i="0">
                <a:solidFill>
                  <a:srgbClr val="1B5E20"/>
                </a:solidFill>
              </a:rPr>
              <a:t>e-Extension Platforms</a:t>
            </a:r>
          </a:p>
        </p:txBody>
      </p:sp>
      <p:sp>
        <p:nvSpPr>
          <p:cNvPr id="22" name="TextBox 21"/>
          <p:cNvSpPr txBox="1"/>
          <p:nvPr/>
        </p:nvSpPr>
        <p:spPr>
          <a:xfrm>
            <a:off x="6446520" y="4864608"/>
            <a:ext cx="5394960" cy="1005840"/>
          </a:xfrm>
          <a:prstGeom prst="rect">
            <a:avLst/>
          </a:prstGeom>
          <a:noFill/>
        </p:spPr>
        <p:txBody>
          <a:bodyPr wrap="square">
            <a:spAutoFit/>
          </a:bodyPr>
          <a:lstStyle/>
          <a:p>
            <a:pPr algn="l"/>
            <a:r>
              <a:rPr sz="1200" b="0" i="0">
                <a:solidFill>
                  <a:srgbClr val="212121"/>
                </a:solidFill>
              </a:rPr>
              <a:t>Video, voice, and chatbot advisory reaching 10x more farmers per extension officer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Supply Chain Modernization</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Key Areas of Transformation</a:t>
            </a:r>
          </a:p>
        </p:txBody>
      </p:sp>
      <p:sp>
        <p:nvSpPr>
          <p:cNvPr id="5" name="TextBox 4"/>
          <p:cNvSpPr txBox="1"/>
          <p:nvPr/>
        </p:nvSpPr>
        <p:spPr>
          <a:xfrm>
            <a:off x="365760" y="1051560"/>
            <a:ext cx="11430000" cy="411480"/>
          </a:xfrm>
          <a:prstGeom prst="rect">
            <a:avLst/>
          </a:prstGeom>
          <a:noFill/>
        </p:spPr>
        <p:txBody>
          <a:bodyPr wrap="square">
            <a:spAutoFit/>
          </a:bodyPr>
          <a:lstStyle/>
          <a:p>
            <a:pPr algn="l"/>
            <a:r>
              <a:rPr sz="1500" b="0" i="1">
                <a:solidFill>
                  <a:srgbClr val="5D4037"/>
                </a:solidFill>
              </a:rPr>
              <a:t>Connecting farmers to markets efficiently – reducing losses, adding value, and improving farmer income share</a:t>
            </a:r>
          </a:p>
        </p:txBody>
      </p:sp>
      <p:sp>
        <p:nvSpPr>
          <p:cNvPr id="6" name="Rectangle 5"/>
          <p:cNvSpPr/>
          <p:nvPr/>
        </p:nvSpPr>
        <p:spPr>
          <a:xfrm>
            <a:off x="274320" y="1645920"/>
            <a:ext cx="2011680"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645920"/>
            <a:ext cx="2011680" cy="502920"/>
          </a:xfrm>
          <a:prstGeom prst="rect">
            <a:avLst/>
          </a:prstGeom>
          <a:noFill/>
        </p:spPr>
        <p:txBody>
          <a:bodyPr wrap="square">
            <a:spAutoFit/>
          </a:bodyPr>
          <a:lstStyle/>
          <a:p>
            <a:pPr algn="ctr"/>
            <a:r>
              <a:rPr sz="1000" b="1" i="0">
                <a:solidFill>
                  <a:srgbClr val="FFFFFF"/>
                </a:solidFill>
              </a:rPr>
              <a:t>FARM</a:t>
            </a:r>
            <a:br/>
            <a:r>
              <a:t>PRODUCTION</a:t>
            </a:r>
          </a:p>
        </p:txBody>
      </p:sp>
      <p:sp>
        <p:nvSpPr>
          <p:cNvPr id="8" name="Rectangle 7"/>
          <p:cNvSpPr/>
          <p:nvPr/>
        </p:nvSpPr>
        <p:spPr>
          <a:xfrm>
            <a:off x="274320" y="2148840"/>
            <a:ext cx="2011680" cy="2697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240280"/>
            <a:ext cx="1828800" cy="2514600"/>
          </a:xfrm>
          <a:prstGeom prst="rect">
            <a:avLst/>
          </a:prstGeom>
          <a:noFill/>
        </p:spPr>
        <p:txBody>
          <a:bodyPr wrap="square">
            <a:spAutoFit/>
          </a:bodyPr>
          <a:lstStyle/>
          <a:p>
            <a:pPr algn="l"/>
            <a:r>
              <a:rPr sz="1200" b="0" i="0">
                <a:solidFill>
                  <a:srgbClr val="212121"/>
                </a:solidFill>
              </a:rPr>
              <a:t>GAP-certified practices</a:t>
            </a:r>
            <a:br/>
            <a:r>
              <a:t>Traceability codes</a:t>
            </a:r>
            <a:br/>
            <a:r>
              <a:t>Quality grading</a:t>
            </a:r>
          </a:p>
        </p:txBody>
      </p:sp>
      <p:sp>
        <p:nvSpPr>
          <p:cNvPr id="10" name="TextBox 9"/>
          <p:cNvSpPr txBox="1"/>
          <p:nvPr/>
        </p:nvSpPr>
        <p:spPr>
          <a:xfrm>
            <a:off x="2331720" y="3017520"/>
            <a:ext cx="274320" cy="457200"/>
          </a:xfrm>
          <a:prstGeom prst="rect">
            <a:avLst/>
          </a:prstGeom>
          <a:noFill/>
        </p:spPr>
        <p:txBody>
          <a:bodyPr wrap="square">
            <a:spAutoFit/>
          </a:bodyPr>
          <a:lstStyle/>
          <a:p>
            <a:pPr algn="ctr"/>
            <a:r>
              <a:rPr sz="1800" b="0" i="0">
                <a:solidFill>
                  <a:srgbClr val="1B5E20"/>
                </a:solidFill>
              </a:rPr>
              <a:t>►</a:t>
            </a:r>
          </a:p>
        </p:txBody>
      </p:sp>
      <p:sp>
        <p:nvSpPr>
          <p:cNvPr id="11" name="Rectangle 10"/>
          <p:cNvSpPr/>
          <p:nvPr/>
        </p:nvSpPr>
        <p:spPr>
          <a:xfrm>
            <a:off x="2651760" y="1645920"/>
            <a:ext cx="2011680"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1760" y="1645920"/>
            <a:ext cx="2011680" cy="502920"/>
          </a:xfrm>
          <a:prstGeom prst="rect">
            <a:avLst/>
          </a:prstGeom>
          <a:noFill/>
        </p:spPr>
        <p:txBody>
          <a:bodyPr wrap="square">
            <a:spAutoFit/>
          </a:bodyPr>
          <a:lstStyle/>
          <a:p>
            <a:pPr algn="ctr"/>
            <a:r>
              <a:rPr sz="1000" b="1" i="0">
                <a:solidFill>
                  <a:srgbClr val="FFFFFF"/>
                </a:solidFill>
              </a:rPr>
              <a:t>AGGREGATION</a:t>
            </a:r>
            <a:br/>
            <a:r>
              <a:t>&amp; STORAGE</a:t>
            </a:r>
          </a:p>
        </p:txBody>
      </p:sp>
      <p:sp>
        <p:nvSpPr>
          <p:cNvPr id="13" name="Rectangle 12"/>
          <p:cNvSpPr/>
          <p:nvPr/>
        </p:nvSpPr>
        <p:spPr>
          <a:xfrm>
            <a:off x="2651760" y="2148840"/>
            <a:ext cx="2011680" cy="2697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2240280"/>
            <a:ext cx="1828800" cy="2514600"/>
          </a:xfrm>
          <a:prstGeom prst="rect">
            <a:avLst/>
          </a:prstGeom>
          <a:noFill/>
        </p:spPr>
        <p:txBody>
          <a:bodyPr wrap="square">
            <a:spAutoFit/>
          </a:bodyPr>
          <a:lstStyle/>
          <a:p>
            <a:pPr algn="l"/>
            <a:r>
              <a:rPr sz="1200" b="0" i="0">
                <a:solidFill>
                  <a:srgbClr val="212121"/>
                </a:solidFill>
              </a:rPr>
              <a:t>Rural collection centres</a:t>
            </a:r>
            <a:br/>
            <a:r>
              <a:t>Cold chain logistics</a:t>
            </a:r>
            <a:br/>
            <a:r>
              <a:t>Quality sorting</a:t>
            </a:r>
          </a:p>
        </p:txBody>
      </p:sp>
      <p:sp>
        <p:nvSpPr>
          <p:cNvPr id="15" name="TextBox 14"/>
          <p:cNvSpPr txBox="1"/>
          <p:nvPr/>
        </p:nvSpPr>
        <p:spPr>
          <a:xfrm>
            <a:off x="4709160" y="3017520"/>
            <a:ext cx="274320" cy="457200"/>
          </a:xfrm>
          <a:prstGeom prst="rect">
            <a:avLst/>
          </a:prstGeom>
          <a:noFill/>
        </p:spPr>
        <p:txBody>
          <a:bodyPr wrap="square">
            <a:spAutoFit/>
          </a:bodyPr>
          <a:lstStyle/>
          <a:p>
            <a:pPr algn="ctr"/>
            <a:r>
              <a:rPr sz="1800" b="0" i="0">
                <a:solidFill>
                  <a:srgbClr val="1B5E20"/>
                </a:solidFill>
              </a:rPr>
              <a:t>►</a:t>
            </a:r>
          </a:p>
        </p:txBody>
      </p:sp>
      <p:sp>
        <p:nvSpPr>
          <p:cNvPr id="16" name="Rectangle 15"/>
          <p:cNvSpPr/>
          <p:nvPr/>
        </p:nvSpPr>
        <p:spPr>
          <a:xfrm>
            <a:off x="5029200" y="1645920"/>
            <a:ext cx="2011680" cy="50292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1645920"/>
            <a:ext cx="2011680" cy="502920"/>
          </a:xfrm>
          <a:prstGeom prst="rect">
            <a:avLst/>
          </a:prstGeom>
          <a:noFill/>
        </p:spPr>
        <p:txBody>
          <a:bodyPr wrap="square">
            <a:spAutoFit/>
          </a:bodyPr>
          <a:lstStyle/>
          <a:p>
            <a:pPr algn="ctr"/>
            <a:r>
              <a:rPr sz="1000" b="1" i="0">
                <a:solidFill>
                  <a:srgbClr val="FFFFFF"/>
                </a:solidFill>
              </a:rPr>
              <a:t>PROCESSING</a:t>
            </a:r>
            <a:br/>
            <a:r>
              <a:t>&amp; PACKAGING</a:t>
            </a:r>
          </a:p>
        </p:txBody>
      </p:sp>
      <p:sp>
        <p:nvSpPr>
          <p:cNvPr id="18" name="Rectangle 17"/>
          <p:cNvSpPr/>
          <p:nvPr/>
        </p:nvSpPr>
        <p:spPr>
          <a:xfrm>
            <a:off x="5029200" y="2148840"/>
            <a:ext cx="2011680" cy="2697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240280"/>
            <a:ext cx="1828800" cy="2514600"/>
          </a:xfrm>
          <a:prstGeom prst="rect">
            <a:avLst/>
          </a:prstGeom>
          <a:noFill/>
        </p:spPr>
        <p:txBody>
          <a:bodyPr wrap="square">
            <a:spAutoFit/>
          </a:bodyPr>
          <a:lstStyle/>
          <a:p>
            <a:pPr algn="l"/>
            <a:r>
              <a:rPr sz="1200" b="0" i="0">
                <a:solidFill>
                  <a:srgbClr val="212121"/>
                </a:solidFill>
              </a:rPr>
              <a:t>Value-added products</a:t>
            </a:r>
            <a:br/>
            <a:r>
              <a:t>Branding &amp; labelling</a:t>
            </a:r>
            <a:br/>
            <a:r>
              <a:t>Food safety compliance</a:t>
            </a:r>
          </a:p>
        </p:txBody>
      </p:sp>
      <p:sp>
        <p:nvSpPr>
          <p:cNvPr id="20" name="TextBox 19"/>
          <p:cNvSpPr txBox="1"/>
          <p:nvPr/>
        </p:nvSpPr>
        <p:spPr>
          <a:xfrm>
            <a:off x="7086600" y="3017520"/>
            <a:ext cx="274320" cy="457200"/>
          </a:xfrm>
          <a:prstGeom prst="rect">
            <a:avLst/>
          </a:prstGeom>
          <a:noFill/>
        </p:spPr>
        <p:txBody>
          <a:bodyPr wrap="square">
            <a:spAutoFit/>
          </a:bodyPr>
          <a:lstStyle/>
          <a:p>
            <a:pPr algn="ctr"/>
            <a:r>
              <a:rPr sz="1800" b="0" i="0">
                <a:solidFill>
                  <a:srgbClr val="1B5E20"/>
                </a:solidFill>
              </a:rPr>
              <a:t>►</a:t>
            </a:r>
          </a:p>
        </p:txBody>
      </p:sp>
      <p:sp>
        <p:nvSpPr>
          <p:cNvPr id="21" name="Rectangle 20"/>
          <p:cNvSpPr/>
          <p:nvPr/>
        </p:nvSpPr>
        <p:spPr>
          <a:xfrm>
            <a:off x="7406640" y="1645920"/>
            <a:ext cx="2011680" cy="50292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645920"/>
            <a:ext cx="2011680" cy="502920"/>
          </a:xfrm>
          <a:prstGeom prst="rect">
            <a:avLst/>
          </a:prstGeom>
          <a:noFill/>
        </p:spPr>
        <p:txBody>
          <a:bodyPr wrap="square">
            <a:spAutoFit/>
          </a:bodyPr>
          <a:lstStyle/>
          <a:p>
            <a:pPr algn="ctr"/>
            <a:r>
              <a:rPr sz="1000" b="1" i="0">
                <a:solidFill>
                  <a:srgbClr val="FFFFFF"/>
                </a:solidFill>
              </a:rPr>
              <a:t>DISTRIBUTION</a:t>
            </a:r>
            <a:br/>
            <a:r>
              <a:t>&amp; RETAIL</a:t>
            </a:r>
          </a:p>
        </p:txBody>
      </p:sp>
      <p:sp>
        <p:nvSpPr>
          <p:cNvPr id="23" name="Rectangle 22"/>
          <p:cNvSpPr/>
          <p:nvPr/>
        </p:nvSpPr>
        <p:spPr>
          <a:xfrm>
            <a:off x="7406640" y="2148840"/>
            <a:ext cx="2011680" cy="2697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0" y="2240280"/>
            <a:ext cx="1828800" cy="2514600"/>
          </a:xfrm>
          <a:prstGeom prst="rect">
            <a:avLst/>
          </a:prstGeom>
          <a:noFill/>
        </p:spPr>
        <p:txBody>
          <a:bodyPr wrap="square">
            <a:spAutoFit/>
          </a:bodyPr>
          <a:lstStyle/>
          <a:p>
            <a:pPr algn="l"/>
            <a:r>
              <a:rPr sz="1200" b="0" i="0">
                <a:solidFill>
                  <a:srgbClr val="212121"/>
                </a:solidFill>
              </a:rPr>
              <a:t>Regional distribution hubs</a:t>
            </a:r>
            <a:br/>
            <a:r>
              <a:t>E-commerce channels</a:t>
            </a:r>
            <a:br/>
            <a:r>
              <a:t>Direct-to-consumer</a:t>
            </a:r>
          </a:p>
        </p:txBody>
      </p:sp>
      <p:sp>
        <p:nvSpPr>
          <p:cNvPr id="25" name="TextBox 24"/>
          <p:cNvSpPr txBox="1"/>
          <p:nvPr/>
        </p:nvSpPr>
        <p:spPr>
          <a:xfrm>
            <a:off x="9464040" y="3017520"/>
            <a:ext cx="274320" cy="457200"/>
          </a:xfrm>
          <a:prstGeom prst="rect">
            <a:avLst/>
          </a:prstGeom>
          <a:noFill/>
        </p:spPr>
        <p:txBody>
          <a:bodyPr wrap="square">
            <a:spAutoFit/>
          </a:bodyPr>
          <a:lstStyle/>
          <a:p>
            <a:pPr algn="ctr"/>
            <a:r>
              <a:rPr sz="1800" b="0" i="0">
                <a:solidFill>
                  <a:srgbClr val="1B5E20"/>
                </a:solidFill>
              </a:rPr>
              <a:t>►</a:t>
            </a:r>
          </a:p>
        </p:txBody>
      </p:sp>
      <p:sp>
        <p:nvSpPr>
          <p:cNvPr id="26" name="Rectangle 25"/>
          <p:cNvSpPr/>
          <p:nvPr/>
        </p:nvSpPr>
        <p:spPr>
          <a:xfrm>
            <a:off x="9784080" y="1645920"/>
            <a:ext cx="2011680"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1645920"/>
            <a:ext cx="2011680" cy="502920"/>
          </a:xfrm>
          <a:prstGeom prst="rect">
            <a:avLst/>
          </a:prstGeom>
          <a:noFill/>
        </p:spPr>
        <p:txBody>
          <a:bodyPr wrap="square">
            <a:spAutoFit/>
          </a:bodyPr>
          <a:lstStyle/>
          <a:p>
            <a:pPr algn="ctr"/>
            <a:r>
              <a:rPr sz="1000" b="1" i="0">
                <a:solidFill>
                  <a:srgbClr val="FFFFFF"/>
                </a:solidFill>
              </a:rPr>
              <a:t>EXPORT</a:t>
            </a:r>
            <a:br/>
            <a:r>
              <a:t>&amp; MARKETS</a:t>
            </a:r>
          </a:p>
        </p:txBody>
      </p:sp>
      <p:sp>
        <p:nvSpPr>
          <p:cNvPr id="28" name="Rectangle 27"/>
          <p:cNvSpPr/>
          <p:nvPr/>
        </p:nvSpPr>
        <p:spPr>
          <a:xfrm>
            <a:off x="9784080" y="2148840"/>
            <a:ext cx="2011680" cy="2697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2240280"/>
            <a:ext cx="1828800" cy="2514600"/>
          </a:xfrm>
          <a:prstGeom prst="rect">
            <a:avLst/>
          </a:prstGeom>
          <a:noFill/>
        </p:spPr>
        <p:txBody>
          <a:bodyPr wrap="square">
            <a:spAutoFit/>
          </a:bodyPr>
          <a:lstStyle/>
          <a:p>
            <a:pPr algn="l"/>
            <a:r>
              <a:rPr sz="1200" b="0" i="0">
                <a:solidFill>
                  <a:srgbClr val="212121"/>
                </a:solidFill>
              </a:rPr>
              <a:t>SPS compliance</a:t>
            </a:r>
            <a:br/>
            <a:r>
              <a:t>Buyer relationships</a:t>
            </a:r>
            <a:br/>
            <a:r>
              <a:t>Premium market access</a:t>
            </a:r>
          </a:p>
        </p:txBody>
      </p:sp>
      <p:graphicFrame>
        <p:nvGraphicFramePr>
          <p:cNvPr id="30" name="Chart 29"/>
          <p:cNvGraphicFramePr>
            <a:graphicFrameLocks noGrp="1"/>
          </p:cNvGraphicFramePr>
          <p:nvPr/>
        </p:nvGraphicFramePr>
        <p:xfrm>
          <a:off x="274320" y="5029200"/>
          <a:ext cx="11612880" cy="155448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Ethiopia: From Food Aid to Export Powerhouse</a:t>
            </a:r>
          </a:p>
        </p:txBody>
      </p:sp>
      <p:sp>
        <p:nvSpPr>
          <p:cNvPr id="4" name="TextBox 3"/>
          <p:cNvSpPr txBox="1"/>
          <p:nvPr/>
        </p:nvSpPr>
        <p:spPr>
          <a:xfrm>
            <a:off x="320040" y="502920"/>
            <a:ext cx="5486400" cy="384048"/>
          </a:xfrm>
          <a:prstGeom prst="rect">
            <a:avLst/>
          </a:prstGeom>
          <a:noFill/>
        </p:spPr>
        <p:txBody>
          <a:bodyPr wrap="square">
            <a:spAutoFit/>
          </a:bodyPr>
          <a:lstStyle/>
          <a:p>
            <a:pPr algn="l"/>
            <a:r>
              <a:rPr sz="1300" b="0" i="0">
                <a:solidFill>
                  <a:srgbClr val="E6A23C"/>
                </a:solidFill>
              </a:rPr>
              <a:t>Case Study | Ethiopia</a:t>
            </a:r>
          </a:p>
        </p:txBody>
      </p:sp>
      <p:sp>
        <p:nvSpPr>
          <p:cNvPr id="5" name="TextBox 4"/>
          <p:cNvSpPr txBox="1"/>
          <p:nvPr/>
        </p:nvSpPr>
        <p:spPr>
          <a:xfrm>
            <a:off x="9601200" y="228600"/>
            <a:ext cx="2468880" cy="457200"/>
          </a:xfrm>
          <a:prstGeom prst="rect">
            <a:avLst/>
          </a:prstGeom>
          <a:noFill/>
        </p:spPr>
        <p:txBody>
          <a:bodyPr wrap="square">
            <a:spAutoFit/>
          </a:bodyPr>
          <a:lstStyle/>
          <a:p>
            <a:pPr algn="r"/>
            <a:r>
              <a:rPr sz="1100" b="0" i="0">
                <a:solidFill>
                  <a:srgbClr val="E6A23C"/>
                </a:solidFill>
              </a:rPr>
              <a:t>Case Studies</a:t>
            </a:r>
          </a:p>
        </p:txBody>
      </p:sp>
      <p:sp>
        <p:nvSpPr>
          <p:cNvPr id="6" name="Rectangle 5"/>
          <p:cNvSpPr/>
          <p:nvPr/>
        </p:nvSpPr>
        <p:spPr>
          <a:xfrm>
            <a:off x="320040" y="1051560"/>
            <a:ext cx="6858000" cy="53949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52360" y="1051560"/>
            <a:ext cx="4389120" cy="53949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6583680" cy="457200"/>
          </a:xfrm>
          <a:prstGeom prst="rect">
            <a:avLst/>
          </a:prstGeom>
          <a:noFill/>
        </p:spPr>
        <p:txBody>
          <a:bodyPr wrap="square">
            <a:spAutoFit/>
          </a:bodyPr>
          <a:lstStyle/>
          <a:p>
            <a:pPr algn="l"/>
            <a:r>
              <a:rPr sz="1600" b="1" i="0">
                <a:solidFill>
                  <a:srgbClr val="1B5E20"/>
                </a:solidFill>
              </a:rPr>
              <a:t>Context &amp; Intervention</a:t>
            </a:r>
          </a:p>
        </p:txBody>
      </p:sp>
      <p:sp>
        <p:nvSpPr>
          <p:cNvPr id="9" name="TextBox 8"/>
          <p:cNvSpPr txBox="1"/>
          <p:nvPr/>
        </p:nvSpPr>
        <p:spPr>
          <a:xfrm>
            <a:off x="457200" y="1645920"/>
            <a:ext cx="6583680" cy="4572000"/>
          </a:xfrm>
          <a:prstGeom prst="rect">
            <a:avLst/>
          </a:prstGeom>
          <a:noFill/>
        </p:spPr>
        <p:txBody>
          <a:bodyPr wrap="square">
            <a:spAutoFit/>
          </a:bodyPr>
          <a:lstStyle/>
          <a:p>
            <a:pPr>
              <a:spcBef>
                <a:spcPts val="400"/>
              </a:spcBef>
            </a:pPr>
            <a:r>
              <a:rPr sz="1300">
                <a:solidFill>
                  <a:srgbClr val="212121"/>
                </a:solidFill>
              </a:rPr>
              <a:t>▸ ATA (Agricultural Transformation Agency) established 2010</a:t>
            </a:r>
          </a:p>
          <a:p>
            <a:pPr>
              <a:spcBef>
                <a:spcPts val="400"/>
              </a:spcBef>
            </a:pPr>
            <a:r>
              <a:rPr sz="1300">
                <a:solidFill>
                  <a:srgbClr val="212121"/>
                </a:solidFill>
              </a:rPr>
              <a:t>▸ Targeted 4 priority crops: wheat, maize, teff, coffee</a:t>
            </a:r>
          </a:p>
          <a:p>
            <a:pPr>
              <a:spcBef>
                <a:spcPts val="400"/>
              </a:spcBef>
            </a:pPr>
            <a:r>
              <a:rPr sz="1300">
                <a:solidFill>
                  <a:srgbClr val="212121"/>
                </a:solidFill>
              </a:rPr>
              <a:t>▸ National soil mapping covering 41,000 km²</a:t>
            </a:r>
          </a:p>
          <a:p>
            <a:pPr>
              <a:spcBef>
                <a:spcPts val="400"/>
              </a:spcBef>
            </a:pPr>
            <a:r>
              <a:rPr sz="1300">
                <a:solidFill>
                  <a:srgbClr val="212121"/>
                </a:solidFill>
              </a:rPr>
              <a:t>▸ Bundled input credit + agronomic advisory + market linkage</a:t>
            </a:r>
          </a:p>
          <a:p>
            <a:pPr>
              <a:spcBef>
                <a:spcPts val="400"/>
              </a:spcBef>
            </a:pPr>
            <a:r>
              <a:rPr sz="1300">
                <a:solidFill>
                  <a:srgbClr val="212121"/>
                </a:solidFill>
              </a:rPr>
              <a:t>▸ 1 million+ farmers enrolled in extension programme</a:t>
            </a:r>
          </a:p>
          <a:p>
            <a:pPr>
              <a:spcBef>
                <a:spcPts val="400"/>
              </a:spcBef>
            </a:pPr>
            <a:r>
              <a:rPr sz="1300">
                <a:solidFill>
                  <a:srgbClr val="212121"/>
                </a:solidFill>
              </a:rPr>
              <a:t>▸ Ethiopia Commodity Exchange launched for transparent pricing</a:t>
            </a:r>
          </a:p>
          <a:p>
            <a:pPr>
              <a:spcBef>
                <a:spcPts val="400"/>
              </a:spcBef>
            </a:pPr>
            <a:r>
              <a:rPr sz="1300">
                <a:solidFill>
                  <a:srgbClr val="212121"/>
                </a:solidFill>
              </a:rPr>
              <a:t>▸ Irrigation expansion: 350,000 ha new irrigated farmland</a:t>
            </a:r>
          </a:p>
        </p:txBody>
      </p:sp>
      <p:sp>
        <p:nvSpPr>
          <p:cNvPr id="10" name="TextBox 9"/>
          <p:cNvSpPr txBox="1"/>
          <p:nvPr/>
        </p:nvSpPr>
        <p:spPr>
          <a:xfrm>
            <a:off x="7589520" y="1097280"/>
            <a:ext cx="4114800" cy="457200"/>
          </a:xfrm>
          <a:prstGeom prst="rect">
            <a:avLst/>
          </a:prstGeom>
          <a:noFill/>
        </p:spPr>
        <p:txBody>
          <a:bodyPr wrap="square">
            <a:spAutoFit/>
          </a:bodyPr>
          <a:lstStyle/>
          <a:p>
            <a:pPr algn="l"/>
            <a:r>
              <a:rPr sz="1600" b="1" i="0">
                <a:solidFill>
                  <a:srgbClr val="5D4037"/>
                </a:solidFill>
              </a:rPr>
              <a:t>Impact Metrics</a:t>
            </a:r>
          </a:p>
        </p:txBody>
      </p:sp>
      <p:sp>
        <p:nvSpPr>
          <p:cNvPr id="11" name="Rectangle 10"/>
          <p:cNvSpPr/>
          <p:nvPr/>
        </p:nvSpPr>
        <p:spPr>
          <a:xfrm>
            <a:off x="7589520" y="16002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1645920"/>
            <a:ext cx="2011680" cy="347472"/>
          </a:xfrm>
          <a:prstGeom prst="rect">
            <a:avLst/>
          </a:prstGeom>
          <a:noFill/>
        </p:spPr>
        <p:txBody>
          <a:bodyPr wrap="square">
            <a:spAutoFit/>
          </a:bodyPr>
          <a:lstStyle/>
          <a:p>
            <a:pPr algn="l"/>
            <a:r>
              <a:rPr sz="1200" b="0" i="0">
                <a:solidFill>
                  <a:srgbClr val="212121"/>
                </a:solidFill>
              </a:rPr>
              <a:t>Wheat yield</a:t>
            </a:r>
          </a:p>
        </p:txBody>
      </p:sp>
      <p:sp>
        <p:nvSpPr>
          <p:cNvPr id="13" name="TextBox 12"/>
          <p:cNvSpPr txBox="1"/>
          <p:nvPr/>
        </p:nvSpPr>
        <p:spPr>
          <a:xfrm>
            <a:off x="7726679" y="1984248"/>
            <a:ext cx="2286000" cy="347472"/>
          </a:xfrm>
          <a:prstGeom prst="rect">
            <a:avLst/>
          </a:prstGeom>
          <a:noFill/>
        </p:spPr>
        <p:txBody>
          <a:bodyPr wrap="square">
            <a:spAutoFit/>
          </a:bodyPr>
          <a:lstStyle/>
          <a:p>
            <a:pPr algn="l"/>
            <a:r>
              <a:rPr sz="1400" b="1" i="0">
                <a:solidFill>
                  <a:srgbClr val="1B5E20"/>
                </a:solidFill>
              </a:rPr>
              <a:t>2.1 → 3.8 t/ha</a:t>
            </a:r>
          </a:p>
        </p:txBody>
      </p:sp>
      <p:sp>
        <p:nvSpPr>
          <p:cNvPr id="14" name="TextBox 13"/>
          <p:cNvSpPr txBox="1"/>
          <p:nvPr/>
        </p:nvSpPr>
        <p:spPr>
          <a:xfrm>
            <a:off x="10241280" y="1783080"/>
            <a:ext cx="1371600" cy="411480"/>
          </a:xfrm>
          <a:prstGeom prst="rect">
            <a:avLst/>
          </a:prstGeom>
          <a:noFill/>
        </p:spPr>
        <p:txBody>
          <a:bodyPr wrap="square">
            <a:spAutoFit/>
          </a:bodyPr>
          <a:lstStyle/>
          <a:p>
            <a:pPr algn="r"/>
            <a:r>
              <a:rPr sz="1400" b="1" i="0">
                <a:solidFill>
                  <a:srgbClr val="2E7D32"/>
                </a:solidFill>
              </a:rPr>
              <a:t>+81%</a:t>
            </a:r>
          </a:p>
        </p:txBody>
      </p:sp>
      <p:sp>
        <p:nvSpPr>
          <p:cNvPr id="15" name="Rectangle 14"/>
          <p:cNvSpPr/>
          <p:nvPr/>
        </p:nvSpPr>
        <p:spPr>
          <a:xfrm>
            <a:off x="7589520" y="25146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2560320"/>
            <a:ext cx="2011680" cy="347472"/>
          </a:xfrm>
          <a:prstGeom prst="rect">
            <a:avLst/>
          </a:prstGeom>
          <a:noFill/>
        </p:spPr>
        <p:txBody>
          <a:bodyPr wrap="square">
            <a:spAutoFit/>
          </a:bodyPr>
          <a:lstStyle/>
          <a:p>
            <a:pPr algn="l"/>
            <a:r>
              <a:rPr sz="1200" b="0" i="0">
                <a:solidFill>
                  <a:srgbClr val="212121"/>
                </a:solidFill>
              </a:rPr>
              <a:t>Maize yield</a:t>
            </a:r>
          </a:p>
        </p:txBody>
      </p:sp>
      <p:sp>
        <p:nvSpPr>
          <p:cNvPr id="17" name="TextBox 16"/>
          <p:cNvSpPr txBox="1"/>
          <p:nvPr/>
        </p:nvSpPr>
        <p:spPr>
          <a:xfrm>
            <a:off x="7726679" y="2898648"/>
            <a:ext cx="2286000" cy="347472"/>
          </a:xfrm>
          <a:prstGeom prst="rect">
            <a:avLst/>
          </a:prstGeom>
          <a:noFill/>
        </p:spPr>
        <p:txBody>
          <a:bodyPr wrap="square">
            <a:spAutoFit/>
          </a:bodyPr>
          <a:lstStyle/>
          <a:p>
            <a:pPr algn="l"/>
            <a:r>
              <a:rPr sz="1400" b="1" i="0">
                <a:solidFill>
                  <a:srgbClr val="1B5E20"/>
                </a:solidFill>
              </a:rPr>
              <a:t>2.9 → 5.5 t/ha</a:t>
            </a:r>
          </a:p>
        </p:txBody>
      </p:sp>
      <p:sp>
        <p:nvSpPr>
          <p:cNvPr id="18" name="TextBox 17"/>
          <p:cNvSpPr txBox="1"/>
          <p:nvPr/>
        </p:nvSpPr>
        <p:spPr>
          <a:xfrm>
            <a:off x="10241280" y="2697480"/>
            <a:ext cx="1371600" cy="411480"/>
          </a:xfrm>
          <a:prstGeom prst="rect">
            <a:avLst/>
          </a:prstGeom>
          <a:noFill/>
        </p:spPr>
        <p:txBody>
          <a:bodyPr wrap="square">
            <a:spAutoFit/>
          </a:bodyPr>
          <a:lstStyle/>
          <a:p>
            <a:pPr algn="r"/>
            <a:r>
              <a:rPr sz="1400" b="1" i="0">
                <a:solidFill>
                  <a:srgbClr val="2E7D32"/>
                </a:solidFill>
              </a:rPr>
              <a:t>+90%</a:t>
            </a:r>
          </a:p>
        </p:txBody>
      </p:sp>
      <p:sp>
        <p:nvSpPr>
          <p:cNvPr id="19" name="Rectangle 18"/>
          <p:cNvSpPr/>
          <p:nvPr/>
        </p:nvSpPr>
        <p:spPr>
          <a:xfrm>
            <a:off x="7589520" y="34290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26679" y="3474720"/>
            <a:ext cx="2011680" cy="347472"/>
          </a:xfrm>
          <a:prstGeom prst="rect">
            <a:avLst/>
          </a:prstGeom>
          <a:noFill/>
        </p:spPr>
        <p:txBody>
          <a:bodyPr wrap="square">
            <a:spAutoFit/>
          </a:bodyPr>
          <a:lstStyle/>
          <a:p>
            <a:pPr algn="l"/>
            <a:r>
              <a:rPr sz="1200" b="0" i="0">
                <a:solidFill>
                  <a:srgbClr val="212121"/>
                </a:solidFill>
              </a:rPr>
              <a:t>Coffee exports</a:t>
            </a:r>
          </a:p>
        </p:txBody>
      </p:sp>
      <p:sp>
        <p:nvSpPr>
          <p:cNvPr id="21" name="TextBox 20"/>
          <p:cNvSpPr txBox="1"/>
          <p:nvPr/>
        </p:nvSpPr>
        <p:spPr>
          <a:xfrm>
            <a:off x="7726679" y="3813048"/>
            <a:ext cx="2286000" cy="347472"/>
          </a:xfrm>
          <a:prstGeom prst="rect">
            <a:avLst/>
          </a:prstGeom>
          <a:noFill/>
        </p:spPr>
        <p:txBody>
          <a:bodyPr wrap="square">
            <a:spAutoFit/>
          </a:bodyPr>
          <a:lstStyle/>
          <a:p>
            <a:pPr algn="l"/>
            <a:r>
              <a:rPr sz="1400" b="1" i="0">
                <a:solidFill>
                  <a:srgbClr val="1B5E20"/>
                </a:solidFill>
              </a:rPr>
              <a:t>$800M → $1.4B</a:t>
            </a:r>
          </a:p>
        </p:txBody>
      </p:sp>
      <p:sp>
        <p:nvSpPr>
          <p:cNvPr id="22" name="TextBox 21"/>
          <p:cNvSpPr txBox="1"/>
          <p:nvPr/>
        </p:nvSpPr>
        <p:spPr>
          <a:xfrm>
            <a:off x="10241280" y="3611880"/>
            <a:ext cx="1371600" cy="411480"/>
          </a:xfrm>
          <a:prstGeom prst="rect">
            <a:avLst/>
          </a:prstGeom>
          <a:noFill/>
        </p:spPr>
        <p:txBody>
          <a:bodyPr wrap="square">
            <a:spAutoFit/>
          </a:bodyPr>
          <a:lstStyle/>
          <a:p>
            <a:pPr algn="r"/>
            <a:r>
              <a:rPr sz="1400" b="1" i="0">
                <a:solidFill>
                  <a:srgbClr val="2E7D32"/>
                </a:solidFill>
              </a:rPr>
              <a:t>+75%</a:t>
            </a:r>
          </a:p>
        </p:txBody>
      </p:sp>
      <p:sp>
        <p:nvSpPr>
          <p:cNvPr id="23" name="Rectangle 22"/>
          <p:cNvSpPr/>
          <p:nvPr/>
        </p:nvSpPr>
        <p:spPr>
          <a:xfrm>
            <a:off x="7589520" y="43434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4389120"/>
            <a:ext cx="2011680" cy="347472"/>
          </a:xfrm>
          <a:prstGeom prst="rect">
            <a:avLst/>
          </a:prstGeom>
          <a:noFill/>
        </p:spPr>
        <p:txBody>
          <a:bodyPr wrap="square">
            <a:spAutoFit/>
          </a:bodyPr>
          <a:lstStyle/>
          <a:p>
            <a:pPr algn="l"/>
            <a:r>
              <a:rPr sz="1200" b="0" i="0">
                <a:solidFill>
                  <a:srgbClr val="212121"/>
                </a:solidFill>
              </a:rPr>
              <a:t>Farmer income</a:t>
            </a:r>
          </a:p>
        </p:txBody>
      </p:sp>
      <p:sp>
        <p:nvSpPr>
          <p:cNvPr id="25" name="TextBox 24"/>
          <p:cNvSpPr txBox="1"/>
          <p:nvPr/>
        </p:nvSpPr>
        <p:spPr>
          <a:xfrm>
            <a:off x="7726679" y="4727448"/>
            <a:ext cx="2286000" cy="347472"/>
          </a:xfrm>
          <a:prstGeom prst="rect">
            <a:avLst/>
          </a:prstGeom>
          <a:noFill/>
        </p:spPr>
        <p:txBody>
          <a:bodyPr wrap="square">
            <a:spAutoFit/>
          </a:bodyPr>
          <a:lstStyle/>
          <a:p>
            <a:pPr algn="l"/>
            <a:r>
              <a:rPr sz="1400" b="1" i="0">
                <a:solidFill>
                  <a:srgbClr val="1B5E20"/>
                </a:solidFill>
              </a:rPr>
              <a:t>+45% avg. real</a:t>
            </a:r>
          </a:p>
        </p:txBody>
      </p:sp>
      <p:sp>
        <p:nvSpPr>
          <p:cNvPr id="26" name="TextBox 25"/>
          <p:cNvSpPr txBox="1"/>
          <p:nvPr/>
        </p:nvSpPr>
        <p:spPr>
          <a:xfrm>
            <a:off x="10241280" y="4526280"/>
            <a:ext cx="1371600" cy="411480"/>
          </a:xfrm>
          <a:prstGeom prst="rect">
            <a:avLst/>
          </a:prstGeom>
          <a:noFill/>
        </p:spPr>
        <p:txBody>
          <a:bodyPr wrap="square">
            <a:spAutoFit/>
          </a:bodyPr>
          <a:lstStyle/>
          <a:p>
            <a:pPr algn="r"/>
            <a:r>
              <a:rPr sz="1400" b="1" i="0">
                <a:solidFill>
                  <a:srgbClr val="2E7D32"/>
                </a:solidFill>
              </a:rPr>
              <a:t>2010–2022</a:t>
            </a:r>
          </a:p>
        </p:txBody>
      </p:sp>
      <p:sp>
        <p:nvSpPr>
          <p:cNvPr id="27" name="Rectangle 26"/>
          <p:cNvSpPr/>
          <p:nvPr/>
        </p:nvSpPr>
        <p:spPr>
          <a:xfrm>
            <a:off x="7589520" y="52578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26679" y="5303520"/>
            <a:ext cx="2011680" cy="347472"/>
          </a:xfrm>
          <a:prstGeom prst="rect">
            <a:avLst/>
          </a:prstGeom>
          <a:noFill/>
        </p:spPr>
        <p:txBody>
          <a:bodyPr wrap="square">
            <a:spAutoFit/>
          </a:bodyPr>
          <a:lstStyle/>
          <a:p>
            <a:pPr algn="l"/>
            <a:r>
              <a:rPr sz="1200" b="0" i="0">
                <a:solidFill>
                  <a:srgbClr val="212121"/>
                </a:solidFill>
              </a:rPr>
              <a:t>Food aid need</a:t>
            </a:r>
          </a:p>
        </p:txBody>
      </p:sp>
      <p:sp>
        <p:nvSpPr>
          <p:cNvPr id="29" name="TextBox 28"/>
          <p:cNvSpPr txBox="1"/>
          <p:nvPr/>
        </p:nvSpPr>
        <p:spPr>
          <a:xfrm>
            <a:off x="7726679" y="5641848"/>
            <a:ext cx="2286000" cy="347472"/>
          </a:xfrm>
          <a:prstGeom prst="rect">
            <a:avLst/>
          </a:prstGeom>
          <a:noFill/>
        </p:spPr>
        <p:txBody>
          <a:bodyPr wrap="square">
            <a:spAutoFit/>
          </a:bodyPr>
          <a:lstStyle/>
          <a:p>
            <a:pPr algn="l"/>
            <a:r>
              <a:rPr sz="1400" b="1" i="0">
                <a:solidFill>
                  <a:srgbClr val="1B5E20"/>
                </a:solidFill>
              </a:rPr>
              <a:t>Reduced 60%</a:t>
            </a:r>
          </a:p>
        </p:txBody>
      </p:sp>
      <p:sp>
        <p:nvSpPr>
          <p:cNvPr id="30" name="TextBox 29"/>
          <p:cNvSpPr txBox="1"/>
          <p:nvPr/>
        </p:nvSpPr>
        <p:spPr>
          <a:xfrm>
            <a:off x="10241280" y="5440680"/>
            <a:ext cx="1371600" cy="411480"/>
          </a:xfrm>
          <a:prstGeom prst="rect">
            <a:avLst/>
          </a:prstGeom>
          <a:noFill/>
        </p:spPr>
        <p:txBody>
          <a:bodyPr wrap="square">
            <a:spAutoFit/>
          </a:bodyPr>
          <a:lstStyle/>
          <a:p>
            <a:pPr algn="r"/>
            <a:r>
              <a:rPr sz="1400" b="1" i="0">
                <a:solidFill>
                  <a:srgbClr val="2E7D32"/>
                </a:solidFill>
              </a:rPr>
              <a:t>since 2015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Netherlands: World's #2 Food Exporter from a Tiny Country</a:t>
            </a:r>
          </a:p>
        </p:txBody>
      </p:sp>
      <p:sp>
        <p:nvSpPr>
          <p:cNvPr id="4" name="TextBox 3"/>
          <p:cNvSpPr txBox="1"/>
          <p:nvPr/>
        </p:nvSpPr>
        <p:spPr>
          <a:xfrm>
            <a:off x="320040" y="502920"/>
            <a:ext cx="5486400" cy="384048"/>
          </a:xfrm>
          <a:prstGeom prst="rect">
            <a:avLst/>
          </a:prstGeom>
          <a:noFill/>
        </p:spPr>
        <p:txBody>
          <a:bodyPr wrap="square">
            <a:spAutoFit/>
          </a:bodyPr>
          <a:lstStyle/>
          <a:p>
            <a:pPr algn="l"/>
            <a:r>
              <a:rPr sz="1300" b="0" i="0">
                <a:solidFill>
                  <a:srgbClr val="E6A23C"/>
                </a:solidFill>
              </a:rPr>
              <a:t>Case Study | Netherlands</a:t>
            </a:r>
          </a:p>
        </p:txBody>
      </p:sp>
      <p:sp>
        <p:nvSpPr>
          <p:cNvPr id="5" name="TextBox 4"/>
          <p:cNvSpPr txBox="1"/>
          <p:nvPr/>
        </p:nvSpPr>
        <p:spPr>
          <a:xfrm>
            <a:off x="9601200" y="228600"/>
            <a:ext cx="2468880" cy="457200"/>
          </a:xfrm>
          <a:prstGeom prst="rect">
            <a:avLst/>
          </a:prstGeom>
          <a:noFill/>
        </p:spPr>
        <p:txBody>
          <a:bodyPr wrap="square">
            <a:spAutoFit/>
          </a:bodyPr>
          <a:lstStyle/>
          <a:p>
            <a:pPr algn="r"/>
            <a:r>
              <a:rPr sz="1100" b="0" i="0">
                <a:solidFill>
                  <a:srgbClr val="E6A23C"/>
                </a:solidFill>
              </a:rPr>
              <a:t>Case Studies</a:t>
            </a:r>
          </a:p>
        </p:txBody>
      </p:sp>
      <p:sp>
        <p:nvSpPr>
          <p:cNvPr id="6" name="Rectangle 5"/>
          <p:cNvSpPr/>
          <p:nvPr/>
        </p:nvSpPr>
        <p:spPr>
          <a:xfrm>
            <a:off x="320040" y="1051560"/>
            <a:ext cx="6858000" cy="53949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52360" y="1051560"/>
            <a:ext cx="4389120" cy="53949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6583680" cy="457200"/>
          </a:xfrm>
          <a:prstGeom prst="rect">
            <a:avLst/>
          </a:prstGeom>
          <a:noFill/>
        </p:spPr>
        <p:txBody>
          <a:bodyPr wrap="square">
            <a:spAutoFit/>
          </a:bodyPr>
          <a:lstStyle/>
          <a:p>
            <a:pPr algn="l"/>
            <a:r>
              <a:rPr sz="1600" b="1" i="0">
                <a:solidFill>
                  <a:srgbClr val="1B5E20"/>
                </a:solidFill>
              </a:rPr>
              <a:t>How They Did It</a:t>
            </a:r>
          </a:p>
        </p:txBody>
      </p:sp>
      <p:sp>
        <p:nvSpPr>
          <p:cNvPr id="9" name="TextBox 8"/>
          <p:cNvSpPr txBox="1"/>
          <p:nvPr/>
        </p:nvSpPr>
        <p:spPr>
          <a:xfrm>
            <a:off x="457200" y="1645920"/>
            <a:ext cx="6583680" cy="4572000"/>
          </a:xfrm>
          <a:prstGeom prst="rect">
            <a:avLst/>
          </a:prstGeom>
          <a:noFill/>
        </p:spPr>
        <p:txBody>
          <a:bodyPr wrap="square">
            <a:spAutoFit/>
          </a:bodyPr>
          <a:lstStyle/>
          <a:p>
            <a:pPr>
              <a:spcBef>
                <a:spcPts val="400"/>
              </a:spcBef>
            </a:pPr>
            <a:r>
              <a:rPr sz="1300">
                <a:solidFill>
                  <a:srgbClr val="212121"/>
                </a:solidFill>
              </a:rPr>
              <a:t>▸ Area: 41,000 km² — smaller than West Virginia</a:t>
            </a:r>
          </a:p>
          <a:p>
            <a:pPr>
              <a:spcBef>
                <a:spcPts val="400"/>
              </a:spcBef>
            </a:pPr>
            <a:r>
              <a:rPr sz="1300">
                <a:solidFill>
                  <a:srgbClr val="212121"/>
                </a:solidFill>
              </a:rPr>
              <a:t>▸ Wageningen University-led precision farming research</a:t>
            </a:r>
          </a:p>
          <a:p>
            <a:pPr>
              <a:spcBef>
                <a:spcPts val="400"/>
              </a:spcBef>
            </a:pPr>
            <a:r>
              <a:rPr sz="1300">
                <a:solidFill>
                  <a:srgbClr val="212121"/>
                </a:solidFill>
              </a:rPr>
              <a:t>▸ Greenhouse technology: 75x average global yield/m²</a:t>
            </a:r>
          </a:p>
          <a:p>
            <a:pPr>
              <a:spcBef>
                <a:spcPts val="400"/>
              </a:spcBef>
            </a:pPr>
            <a:r>
              <a:rPr sz="1300">
                <a:solidFill>
                  <a:srgbClr val="212121"/>
                </a:solidFill>
              </a:rPr>
              <a:t>▸ 85% reduction in pesticide use via integrated systems</a:t>
            </a:r>
          </a:p>
          <a:p>
            <a:pPr>
              <a:spcBef>
                <a:spcPts val="400"/>
              </a:spcBef>
            </a:pPr>
            <a:r>
              <a:rPr sz="1300">
                <a:solidFill>
                  <a:srgbClr val="212121"/>
                </a:solidFill>
              </a:rPr>
              <a:t>▸ Water recycling in glasshouses: 90% reuse rate</a:t>
            </a:r>
          </a:p>
          <a:p>
            <a:pPr>
              <a:spcBef>
                <a:spcPts val="400"/>
              </a:spcBef>
            </a:pPr>
            <a:r>
              <a:rPr sz="1300">
                <a:solidFill>
                  <a:srgbClr val="212121"/>
                </a:solidFill>
              </a:rPr>
              <a:t>▸ Full digital traceability from seed to shelf</a:t>
            </a:r>
          </a:p>
          <a:p>
            <a:pPr>
              <a:spcBef>
                <a:spcPts val="400"/>
              </a:spcBef>
            </a:pPr>
            <a:r>
              <a:rPr sz="1300">
                <a:solidFill>
                  <a:srgbClr val="212121"/>
                </a:solidFill>
              </a:rPr>
              <a:t>▸ 'Food Valley' cluster: 14,000 food industry companies</a:t>
            </a:r>
          </a:p>
        </p:txBody>
      </p:sp>
      <p:sp>
        <p:nvSpPr>
          <p:cNvPr id="10" name="TextBox 9"/>
          <p:cNvSpPr txBox="1"/>
          <p:nvPr/>
        </p:nvSpPr>
        <p:spPr>
          <a:xfrm>
            <a:off x="7589520" y="1097280"/>
            <a:ext cx="4114800" cy="457200"/>
          </a:xfrm>
          <a:prstGeom prst="rect">
            <a:avLst/>
          </a:prstGeom>
          <a:noFill/>
        </p:spPr>
        <p:txBody>
          <a:bodyPr wrap="square">
            <a:spAutoFit/>
          </a:bodyPr>
          <a:lstStyle/>
          <a:p>
            <a:pPr algn="l"/>
            <a:r>
              <a:rPr sz="1600" b="1" i="0">
                <a:solidFill>
                  <a:srgbClr val="5D4037"/>
                </a:solidFill>
              </a:rPr>
              <a:t>Impact Metrics</a:t>
            </a:r>
          </a:p>
        </p:txBody>
      </p:sp>
      <p:sp>
        <p:nvSpPr>
          <p:cNvPr id="11" name="Rectangle 10"/>
          <p:cNvSpPr/>
          <p:nvPr/>
        </p:nvSpPr>
        <p:spPr>
          <a:xfrm>
            <a:off x="7589520" y="16002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1645920"/>
            <a:ext cx="2011680" cy="347472"/>
          </a:xfrm>
          <a:prstGeom prst="rect">
            <a:avLst/>
          </a:prstGeom>
          <a:noFill/>
        </p:spPr>
        <p:txBody>
          <a:bodyPr wrap="square">
            <a:spAutoFit/>
          </a:bodyPr>
          <a:lstStyle/>
          <a:p>
            <a:pPr algn="l"/>
            <a:r>
              <a:rPr sz="1200" b="0" i="0">
                <a:solidFill>
                  <a:srgbClr val="212121"/>
                </a:solidFill>
              </a:rPr>
              <a:t>Food exports</a:t>
            </a:r>
          </a:p>
        </p:txBody>
      </p:sp>
      <p:sp>
        <p:nvSpPr>
          <p:cNvPr id="13" name="TextBox 12"/>
          <p:cNvSpPr txBox="1"/>
          <p:nvPr/>
        </p:nvSpPr>
        <p:spPr>
          <a:xfrm>
            <a:off x="7726679" y="1984248"/>
            <a:ext cx="2286000" cy="347472"/>
          </a:xfrm>
          <a:prstGeom prst="rect">
            <a:avLst/>
          </a:prstGeom>
          <a:noFill/>
        </p:spPr>
        <p:txBody>
          <a:bodyPr wrap="square">
            <a:spAutoFit/>
          </a:bodyPr>
          <a:lstStyle/>
          <a:p>
            <a:pPr algn="l"/>
            <a:r>
              <a:rPr sz="1400" b="1" i="0">
                <a:solidFill>
                  <a:srgbClr val="1B5E20"/>
                </a:solidFill>
              </a:rPr>
              <a:t>$105 billion/year</a:t>
            </a:r>
          </a:p>
        </p:txBody>
      </p:sp>
      <p:sp>
        <p:nvSpPr>
          <p:cNvPr id="14" name="TextBox 13"/>
          <p:cNvSpPr txBox="1"/>
          <p:nvPr/>
        </p:nvSpPr>
        <p:spPr>
          <a:xfrm>
            <a:off x="10241280" y="1783080"/>
            <a:ext cx="1371600" cy="411480"/>
          </a:xfrm>
          <a:prstGeom prst="rect">
            <a:avLst/>
          </a:prstGeom>
          <a:noFill/>
        </p:spPr>
        <p:txBody>
          <a:bodyPr wrap="square">
            <a:spAutoFit/>
          </a:bodyPr>
          <a:lstStyle/>
          <a:p>
            <a:pPr algn="r"/>
            <a:r>
              <a:rPr sz="1200" b="0" i="0">
                <a:solidFill>
                  <a:srgbClr val="616161"/>
                </a:solidFill>
              </a:rPr>
              <a:t>2nd globally</a:t>
            </a:r>
          </a:p>
        </p:txBody>
      </p:sp>
      <p:sp>
        <p:nvSpPr>
          <p:cNvPr id="15" name="Rectangle 14"/>
          <p:cNvSpPr/>
          <p:nvPr/>
        </p:nvSpPr>
        <p:spPr>
          <a:xfrm>
            <a:off x="7589520" y="25146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2560320"/>
            <a:ext cx="2011680" cy="347472"/>
          </a:xfrm>
          <a:prstGeom prst="rect">
            <a:avLst/>
          </a:prstGeom>
          <a:noFill/>
        </p:spPr>
        <p:txBody>
          <a:bodyPr wrap="square">
            <a:spAutoFit/>
          </a:bodyPr>
          <a:lstStyle/>
          <a:p>
            <a:pPr algn="l"/>
            <a:r>
              <a:rPr sz="1200" b="0" i="0">
                <a:solidFill>
                  <a:srgbClr val="212121"/>
                </a:solidFill>
              </a:rPr>
              <a:t>Water usage</a:t>
            </a:r>
          </a:p>
        </p:txBody>
      </p:sp>
      <p:sp>
        <p:nvSpPr>
          <p:cNvPr id="17" name="TextBox 16"/>
          <p:cNvSpPr txBox="1"/>
          <p:nvPr/>
        </p:nvSpPr>
        <p:spPr>
          <a:xfrm>
            <a:off x="7726679" y="2898648"/>
            <a:ext cx="2286000" cy="347472"/>
          </a:xfrm>
          <a:prstGeom prst="rect">
            <a:avLst/>
          </a:prstGeom>
          <a:noFill/>
        </p:spPr>
        <p:txBody>
          <a:bodyPr wrap="square">
            <a:spAutoFit/>
          </a:bodyPr>
          <a:lstStyle/>
          <a:p>
            <a:pPr algn="l"/>
            <a:r>
              <a:rPr sz="1400" b="1" i="0">
                <a:solidFill>
                  <a:srgbClr val="1B5E20"/>
                </a:solidFill>
              </a:rPr>
              <a:t>−90% vs. global avg</a:t>
            </a:r>
          </a:p>
        </p:txBody>
      </p:sp>
      <p:sp>
        <p:nvSpPr>
          <p:cNvPr id="18" name="TextBox 17"/>
          <p:cNvSpPr txBox="1"/>
          <p:nvPr/>
        </p:nvSpPr>
        <p:spPr>
          <a:xfrm>
            <a:off x="10241280" y="2697480"/>
            <a:ext cx="1371600" cy="411480"/>
          </a:xfrm>
          <a:prstGeom prst="rect">
            <a:avLst/>
          </a:prstGeom>
          <a:noFill/>
        </p:spPr>
        <p:txBody>
          <a:bodyPr wrap="square">
            <a:spAutoFit/>
          </a:bodyPr>
          <a:lstStyle/>
          <a:p>
            <a:pPr algn="r"/>
            <a:r>
              <a:rPr sz="1200" b="0" i="0">
                <a:solidFill>
                  <a:srgbClr val="616161"/>
                </a:solidFill>
              </a:rPr>
              <a:t>per kg produce</a:t>
            </a:r>
          </a:p>
        </p:txBody>
      </p:sp>
      <p:sp>
        <p:nvSpPr>
          <p:cNvPr id="19" name="Rectangle 18"/>
          <p:cNvSpPr/>
          <p:nvPr/>
        </p:nvSpPr>
        <p:spPr>
          <a:xfrm>
            <a:off x="7589520" y="34290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26679" y="3474720"/>
            <a:ext cx="2011680" cy="347472"/>
          </a:xfrm>
          <a:prstGeom prst="rect">
            <a:avLst/>
          </a:prstGeom>
          <a:noFill/>
        </p:spPr>
        <p:txBody>
          <a:bodyPr wrap="square">
            <a:spAutoFit/>
          </a:bodyPr>
          <a:lstStyle/>
          <a:p>
            <a:pPr algn="l"/>
            <a:r>
              <a:rPr sz="1200" b="0" i="0">
                <a:solidFill>
                  <a:srgbClr val="212121"/>
                </a:solidFill>
              </a:rPr>
              <a:t>Pesticides</a:t>
            </a:r>
          </a:p>
        </p:txBody>
      </p:sp>
      <p:sp>
        <p:nvSpPr>
          <p:cNvPr id="21" name="TextBox 20"/>
          <p:cNvSpPr txBox="1"/>
          <p:nvPr/>
        </p:nvSpPr>
        <p:spPr>
          <a:xfrm>
            <a:off x="7726679" y="3813048"/>
            <a:ext cx="2286000" cy="347472"/>
          </a:xfrm>
          <a:prstGeom prst="rect">
            <a:avLst/>
          </a:prstGeom>
          <a:noFill/>
        </p:spPr>
        <p:txBody>
          <a:bodyPr wrap="square">
            <a:spAutoFit/>
          </a:bodyPr>
          <a:lstStyle/>
          <a:p>
            <a:pPr algn="l"/>
            <a:r>
              <a:rPr sz="1400" b="1" i="0">
                <a:solidFill>
                  <a:srgbClr val="1B5E20"/>
                </a:solidFill>
              </a:rPr>
              <a:t>−85% since 1985</a:t>
            </a:r>
          </a:p>
        </p:txBody>
      </p:sp>
      <p:sp>
        <p:nvSpPr>
          <p:cNvPr id="22" name="TextBox 21"/>
          <p:cNvSpPr txBox="1"/>
          <p:nvPr/>
        </p:nvSpPr>
        <p:spPr>
          <a:xfrm>
            <a:off x="10241280" y="3611880"/>
            <a:ext cx="1371600" cy="411480"/>
          </a:xfrm>
          <a:prstGeom prst="rect">
            <a:avLst/>
          </a:prstGeom>
          <a:noFill/>
        </p:spPr>
        <p:txBody>
          <a:bodyPr wrap="square">
            <a:spAutoFit/>
          </a:bodyPr>
          <a:lstStyle/>
          <a:p>
            <a:pPr algn="r"/>
            <a:r>
              <a:rPr sz="1200" b="0" i="0">
                <a:solidFill>
                  <a:srgbClr val="616161"/>
                </a:solidFill>
              </a:rPr>
              <a:t>sustained</a:t>
            </a:r>
          </a:p>
        </p:txBody>
      </p:sp>
      <p:sp>
        <p:nvSpPr>
          <p:cNvPr id="23" name="Rectangle 22"/>
          <p:cNvSpPr/>
          <p:nvPr/>
        </p:nvSpPr>
        <p:spPr>
          <a:xfrm>
            <a:off x="7589520" y="43434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4389120"/>
            <a:ext cx="2011680" cy="347472"/>
          </a:xfrm>
          <a:prstGeom prst="rect">
            <a:avLst/>
          </a:prstGeom>
          <a:noFill/>
        </p:spPr>
        <p:txBody>
          <a:bodyPr wrap="square">
            <a:spAutoFit/>
          </a:bodyPr>
          <a:lstStyle/>
          <a:p>
            <a:pPr algn="l"/>
            <a:r>
              <a:rPr sz="1200" b="0" i="0">
                <a:solidFill>
                  <a:srgbClr val="212121"/>
                </a:solidFill>
              </a:rPr>
              <a:t>Labour productivity</a:t>
            </a:r>
          </a:p>
        </p:txBody>
      </p:sp>
      <p:sp>
        <p:nvSpPr>
          <p:cNvPr id="25" name="TextBox 24"/>
          <p:cNvSpPr txBox="1"/>
          <p:nvPr/>
        </p:nvSpPr>
        <p:spPr>
          <a:xfrm>
            <a:off x="7726679" y="4727448"/>
            <a:ext cx="2286000" cy="347472"/>
          </a:xfrm>
          <a:prstGeom prst="rect">
            <a:avLst/>
          </a:prstGeom>
          <a:noFill/>
        </p:spPr>
        <p:txBody>
          <a:bodyPr wrap="square">
            <a:spAutoFit/>
          </a:bodyPr>
          <a:lstStyle/>
          <a:p>
            <a:pPr algn="l"/>
            <a:r>
              <a:rPr sz="1400" b="1" i="0">
                <a:solidFill>
                  <a:srgbClr val="1B5E20"/>
                </a:solidFill>
              </a:rPr>
              <a:t>5x EU average</a:t>
            </a:r>
          </a:p>
        </p:txBody>
      </p:sp>
      <p:sp>
        <p:nvSpPr>
          <p:cNvPr id="26" name="TextBox 25"/>
          <p:cNvSpPr txBox="1"/>
          <p:nvPr/>
        </p:nvSpPr>
        <p:spPr>
          <a:xfrm>
            <a:off x="10241280" y="4526280"/>
            <a:ext cx="1371600" cy="411480"/>
          </a:xfrm>
          <a:prstGeom prst="rect">
            <a:avLst/>
          </a:prstGeom>
          <a:noFill/>
        </p:spPr>
        <p:txBody>
          <a:bodyPr wrap="square">
            <a:spAutoFit/>
          </a:bodyPr>
          <a:lstStyle/>
          <a:p>
            <a:pPr algn="r"/>
            <a:r>
              <a:rPr sz="1200" b="0" i="0">
                <a:solidFill>
                  <a:srgbClr val="616161"/>
                </a:solidFill>
              </a:rPr>
              <a:t>per farm</a:t>
            </a:r>
          </a:p>
        </p:txBody>
      </p:sp>
      <p:sp>
        <p:nvSpPr>
          <p:cNvPr id="27" name="Rectangle 26"/>
          <p:cNvSpPr/>
          <p:nvPr/>
        </p:nvSpPr>
        <p:spPr>
          <a:xfrm>
            <a:off x="7589520" y="52578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26679" y="5303520"/>
            <a:ext cx="2011680" cy="347472"/>
          </a:xfrm>
          <a:prstGeom prst="rect">
            <a:avLst/>
          </a:prstGeom>
          <a:noFill/>
        </p:spPr>
        <p:txBody>
          <a:bodyPr wrap="square">
            <a:spAutoFit/>
          </a:bodyPr>
          <a:lstStyle/>
          <a:p>
            <a:pPr algn="l"/>
            <a:r>
              <a:rPr sz="1200" b="0" i="0">
                <a:solidFill>
                  <a:srgbClr val="212121"/>
                </a:solidFill>
              </a:rPr>
              <a:t>R&amp;D investment</a:t>
            </a:r>
          </a:p>
        </p:txBody>
      </p:sp>
      <p:sp>
        <p:nvSpPr>
          <p:cNvPr id="29" name="TextBox 28"/>
          <p:cNvSpPr txBox="1"/>
          <p:nvPr/>
        </p:nvSpPr>
        <p:spPr>
          <a:xfrm>
            <a:off x="7726679" y="5641848"/>
            <a:ext cx="2286000" cy="347472"/>
          </a:xfrm>
          <a:prstGeom prst="rect">
            <a:avLst/>
          </a:prstGeom>
          <a:noFill/>
        </p:spPr>
        <p:txBody>
          <a:bodyPr wrap="square">
            <a:spAutoFit/>
          </a:bodyPr>
          <a:lstStyle/>
          <a:p>
            <a:pPr algn="l"/>
            <a:r>
              <a:rPr sz="1400" b="1" i="0">
                <a:solidFill>
                  <a:srgbClr val="1B5E20"/>
                </a:solidFill>
              </a:rPr>
              <a:t>€1.2B/year</a:t>
            </a:r>
          </a:p>
        </p:txBody>
      </p:sp>
      <p:sp>
        <p:nvSpPr>
          <p:cNvPr id="30" name="TextBox 29"/>
          <p:cNvSpPr txBox="1"/>
          <p:nvPr/>
        </p:nvSpPr>
        <p:spPr>
          <a:xfrm>
            <a:off x="10241280" y="5440680"/>
            <a:ext cx="1371600" cy="411480"/>
          </a:xfrm>
          <a:prstGeom prst="rect">
            <a:avLst/>
          </a:prstGeom>
          <a:noFill/>
        </p:spPr>
        <p:txBody>
          <a:bodyPr wrap="square">
            <a:spAutoFit/>
          </a:bodyPr>
          <a:lstStyle/>
          <a:p>
            <a:pPr algn="r"/>
            <a:r>
              <a:rPr sz="1200" b="0" i="0">
                <a:solidFill>
                  <a:srgbClr val="616161"/>
                </a:solidFill>
              </a:rPr>
              <a:t>Wageningen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India: Digital Agriculture at Scale</a:t>
            </a:r>
          </a:p>
        </p:txBody>
      </p:sp>
      <p:sp>
        <p:nvSpPr>
          <p:cNvPr id="4" name="TextBox 3"/>
          <p:cNvSpPr txBox="1"/>
          <p:nvPr/>
        </p:nvSpPr>
        <p:spPr>
          <a:xfrm>
            <a:off x="320040" y="502920"/>
            <a:ext cx="5486400" cy="384048"/>
          </a:xfrm>
          <a:prstGeom prst="rect">
            <a:avLst/>
          </a:prstGeom>
          <a:noFill/>
        </p:spPr>
        <p:txBody>
          <a:bodyPr wrap="square">
            <a:spAutoFit/>
          </a:bodyPr>
          <a:lstStyle/>
          <a:p>
            <a:pPr algn="l"/>
            <a:r>
              <a:rPr sz="1300" b="0" i="0">
                <a:solidFill>
                  <a:srgbClr val="E6A23C"/>
                </a:solidFill>
              </a:rPr>
              <a:t>Case Study | India</a:t>
            </a:r>
          </a:p>
        </p:txBody>
      </p:sp>
      <p:sp>
        <p:nvSpPr>
          <p:cNvPr id="5" name="TextBox 4"/>
          <p:cNvSpPr txBox="1"/>
          <p:nvPr/>
        </p:nvSpPr>
        <p:spPr>
          <a:xfrm>
            <a:off x="9601200" y="228600"/>
            <a:ext cx="2468880" cy="457200"/>
          </a:xfrm>
          <a:prstGeom prst="rect">
            <a:avLst/>
          </a:prstGeom>
          <a:noFill/>
        </p:spPr>
        <p:txBody>
          <a:bodyPr wrap="square">
            <a:spAutoFit/>
          </a:bodyPr>
          <a:lstStyle/>
          <a:p>
            <a:pPr algn="r"/>
            <a:r>
              <a:rPr sz="1100" b="0" i="0">
                <a:solidFill>
                  <a:srgbClr val="E6A23C"/>
                </a:solidFill>
              </a:rPr>
              <a:t>Case Studies</a:t>
            </a:r>
          </a:p>
        </p:txBody>
      </p:sp>
      <p:sp>
        <p:nvSpPr>
          <p:cNvPr id="6" name="Rectangle 5"/>
          <p:cNvSpPr/>
          <p:nvPr/>
        </p:nvSpPr>
        <p:spPr>
          <a:xfrm>
            <a:off x="320040" y="1051560"/>
            <a:ext cx="6858000" cy="53949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52360" y="1051560"/>
            <a:ext cx="4389120" cy="53949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6583680" cy="457200"/>
          </a:xfrm>
          <a:prstGeom prst="rect">
            <a:avLst/>
          </a:prstGeom>
          <a:noFill/>
        </p:spPr>
        <p:txBody>
          <a:bodyPr wrap="square">
            <a:spAutoFit/>
          </a:bodyPr>
          <a:lstStyle/>
          <a:p>
            <a:pPr algn="l"/>
            <a:r>
              <a:rPr sz="1600" b="1" i="0">
                <a:solidFill>
                  <a:srgbClr val="1B5E20"/>
                </a:solidFill>
              </a:rPr>
              <a:t>Key Programmes &amp; Interventions</a:t>
            </a:r>
          </a:p>
        </p:txBody>
      </p:sp>
      <p:sp>
        <p:nvSpPr>
          <p:cNvPr id="9" name="TextBox 8"/>
          <p:cNvSpPr txBox="1"/>
          <p:nvPr/>
        </p:nvSpPr>
        <p:spPr>
          <a:xfrm>
            <a:off x="457200" y="1645920"/>
            <a:ext cx="6583680" cy="4572000"/>
          </a:xfrm>
          <a:prstGeom prst="rect">
            <a:avLst/>
          </a:prstGeom>
          <a:noFill/>
        </p:spPr>
        <p:txBody>
          <a:bodyPr wrap="square">
            <a:spAutoFit/>
          </a:bodyPr>
          <a:lstStyle/>
          <a:p>
            <a:pPr>
              <a:spcBef>
                <a:spcPts val="400"/>
              </a:spcBef>
            </a:pPr>
            <a:r>
              <a:rPr sz="1300">
                <a:solidFill>
                  <a:srgbClr val="212121"/>
                </a:solidFill>
              </a:rPr>
              <a:t>▸ PM-KISAN: Direct income transfer to 110 million farmers</a:t>
            </a:r>
          </a:p>
          <a:p>
            <a:pPr>
              <a:spcBef>
                <a:spcPts val="400"/>
              </a:spcBef>
            </a:pPr>
            <a:r>
              <a:rPr sz="1300">
                <a:solidFill>
                  <a:srgbClr val="212121"/>
                </a:solidFill>
              </a:rPr>
              <a:t>▸ eNAM: National electronic agriculture marketplace</a:t>
            </a:r>
          </a:p>
          <a:p>
            <a:pPr>
              <a:spcBef>
                <a:spcPts val="400"/>
              </a:spcBef>
            </a:pPr>
            <a:r>
              <a:rPr sz="1300">
                <a:solidFill>
                  <a:srgbClr val="212121"/>
                </a:solidFill>
              </a:rPr>
              <a:t>▸ Soil Health Card scheme: 220 million cards issued</a:t>
            </a:r>
          </a:p>
          <a:p>
            <a:pPr>
              <a:spcBef>
                <a:spcPts val="400"/>
              </a:spcBef>
            </a:pPr>
            <a:r>
              <a:rPr sz="1300">
                <a:solidFill>
                  <a:srgbClr val="212121"/>
                </a:solidFill>
              </a:rPr>
              <a:t>▸ Pradhan Mantri Fasal Bima: Crop insurance 60M farmers</a:t>
            </a:r>
          </a:p>
          <a:p>
            <a:pPr>
              <a:spcBef>
                <a:spcPts val="400"/>
              </a:spcBef>
            </a:pPr>
            <a:r>
              <a:rPr sz="1300">
                <a:solidFill>
                  <a:srgbClr val="212121"/>
                </a:solidFill>
              </a:rPr>
              <a:t>▸ AGRISTACK: Digital farmer identity &amp; land records</a:t>
            </a:r>
          </a:p>
          <a:p>
            <a:pPr>
              <a:spcBef>
                <a:spcPts val="400"/>
              </a:spcBef>
            </a:pPr>
            <a:r>
              <a:rPr sz="1300">
                <a:solidFill>
                  <a:srgbClr val="212121"/>
                </a:solidFill>
              </a:rPr>
              <a:t>▸ KCC (Kisan Credit Card): 70 million credit accounts</a:t>
            </a:r>
          </a:p>
          <a:p>
            <a:pPr>
              <a:spcBef>
                <a:spcPts val="400"/>
              </a:spcBef>
            </a:pPr>
            <a:r>
              <a:rPr sz="1300">
                <a:solidFill>
                  <a:srgbClr val="212121"/>
                </a:solidFill>
              </a:rPr>
              <a:t>▸ Drone policy: 100,000 drones for agriculture by 2025</a:t>
            </a:r>
          </a:p>
        </p:txBody>
      </p:sp>
      <p:sp>
        <p:nvSpPr>
          <p:cNvPr id="10" name="TextBox 9"/>
          <p:cNvSpPr txBox="1"/>
          <p:nvPr/>
        </p:nvSpPr>
        <p:spPr>
          <a:xfrm>
            <a:off x="7589520" y="1097280"/>
            <a:ext cx="4114800" cy="457200"/>
          </a:xfrm>
          <a:prstGeom prst="rect">
            <a:avLst/>
          </a:prstGeom>
          <a:noFill/>
        </p:spPr>
        <p:txBody>
          <a:bodyPr wrap="square">
            <a:spAutoFit/>
          </a:bodyPr>
          <a:lstStyle/>
          <a:p>
            <a:pPr algn="l"/>
            <a:r>
              <a:rPr sz="1600" b="1" i="0">
                <a:solidFill>
                  <a:srgbClr val="5D4037"/>
                </a:solidFill>
              </a:rPr>
              <a:t>Impact Metrics</a:t>
            </a:r>
          </a:p>
        </p:txBody>
      </p:sp>
      <p:sp>
        <p:nvSpPr>
          <p:cNvPr id="11" name="Rectangle 10"/>
          <p:cNvSpPr/>
          <p:nvPr/>
        </p:nvSpPr>
        <p:spPr>
          <a:xfrm>
            <a:off x="7589520" y="16002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1645920"/>
            <a:ext cx="2011680" cy="347472"/>
          </a:xfrm>
          <a:prstGeom prst="rect">
            <a:avLst/>
          </a:prstGeom>
          <a:noFill/>
        </p:spPr>
        <p:txBody>
          <a:bodyPr wrap="square">
            <a:spAutoFit/>
          </a:bodyPr>
          <a:lstStyle/>
          <a:p>
            <a:pPr algn="l"/>
            <a:r>
              <a:rPr sz="1200" b="0" i="0">
                <a:solidFill>
                  <a:srgbClr val="212121"/>
                </a:solidFill>
              </a:rPr>
              <a:t>eNAM traders</a:t>
            </a:r>
          </a:p>
        </p:txBody>
      </p:sp>
      <p:sp>
        <p:nvSpPr>
          <p:cNvPr id="13" name="TextBox 12"/>
          <p:cNvSpPr txBox="1"/>
          <p:nvPr/>
        </p:nvSpPr>
        <p:spPr>
          <a:xfrm>
            <a:off x="7726679" y="1984248"/>
            <a:ext cx="2286000" cy="347472"/>
          </a:xfrm>
          <a:prstGeom prst="rect">
            <a:avLst/>
          </a:prstGeom>
          <a:noFill/>
        </p:spPr>
        <p:txBody>
          <a:bodyPr wrap="square">
            <a:spAutoFit/>
          </a:bodyPr>
          <a:lstStyle/>
          <a:p>
            <a:pPr algn="l"/>
            <a:r>
              <a:rPr sz="1400" b="1" i="0">
                <a:solidFill>
                  <a:srgbClr val="1B5E20"/>
                </a:solidFill>
              </a:rPr>
              <a:t>1.77 million</a:t>
            </a:r>
          </a:p>
        </p:txBody>
      </p:sp>
      <p:sp>
        <p:nvSpPr>
          <p:cNvPr id="14" name="TextBox 13"/>
          <p:cNvSpPr txBox="1"/>
          <p:nvPr/>
        </p:nvSpPr>
        <p:spPr>
          <a:xfrm>
            <a:off x="10241280" y="1783080"/>
            <a:ext cx="1371600" cy="411480"/>
          </a:xfrm>
          <a:prstGeom prst="rect">
            <a:avLst/>
          </a:prstGeom>
          <a:noFill/>
        </p:spPr>
        <p:txBody>
          <a:bodyPr wrap="square">
            <a:spAutoFit/>
          </a:bodyPr>
          <a:lstStyle/>
          <a:p>
            <a:pPr algn="r"/>
            <a:r>
              <a:rPr sz="1100" b="0" i="0">
                <a:solidFill>
                  <a:srgbClr val="616161"/>
                </a:solidFill>
              </a:rPr>
              <a:t>+50% price realised</a:t>
            </a:r>
          </a:p>
        </p:txBody>
      </p:sp>
      <p:sp>
        <p:nvSpPr>
          <p:cNvPr id="15" name="Rectangle 14"/>
          <p:cNvSpPr/>
          <p:nvPr/>
        </p:nvSpPr>
        <p:spPr>
          <a:xfrm>
            <a:off x="7589520" y="25146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2560320"/>
            <a:ext cx="2011680" cy="347472"/>
          </a:xfrm>
          <a:prstGeom prst="rect">
            <a:avLst/>
          </a:prstGeom>
          <a:noFill/>
        </p:spPr>
        <p:txBody>
          <a:bodyPr wrap="square">
            <a:spAutoFit/>
          </a:bodyPr>
          <a:lstStyle/>
          <a:p>
            <a:pPr algn="l"/>
            <a:r>
              <a:rPr sz="1200" b="0" i="0">
                <a:solidFill>
                  <a:srgbClr val="212121"/>
                </a:solidFill>
              </a:rPr>
              <a:t>Soil card uptake</a:t>
            </a:r>
          </a:p>
        </p:txBody>
      </p:sp>
      <p:sp>
        <p:nvSpPr>
          <p:cNvPr id="17" name="TextBox 16"/>
          <p:cNvSpPr txBox="1"/>
          <p:nvPr/>
        </p:nvSpPr>
        <p:spPr>
          <a:xfrm>
            <a:off x="7726679" y="2898648"/>
            <a:ext cx="2286000" cy="347472"/>
          </a:xfrm>
          <a:prstGeom prst="rect">
            <a:avLst/>
          </a:prstGeom>
          <a:noFill/>
        </p:spPr>
        <p:txBody>
          <a:bodyPr wrap="square">
            <a:spAutoFit/>
          </a:bodyPr>
          <a:lstStyle/>
          <a:p>
            <a:pPr algn="l"/>
            <a:r>
              <a:rPr sz="1400" b="1" i="0">
                <a:solidFill>
                  <a:srgbClr val="1B5E20"/>
                </a:solidFill>
              </a:rPr>
              <a:t>220 million</a:t>
            </a:r>
          </a:p>
        </p:txBody>
      </p:sp>
      <p:sp>
        <p:nvSpPr>
          <p:cNvPr id="18" name="TextBox 17"/>
          <p:cNvSpPr txBox="1"/>
          <p:nvPr/>
        </p:nvSpPr>
        <p:spPr>
          <a:xfrm>
            <a:off x="10241280" y="2697480"/>
            <a:ext cx="1371600" cy="411480"/>
          </a:xfrm>
          <a:prstGeom prst="rect">
            <a:avLst/>
          </a:prstGeom>
          <a:noFill/>
        </p:spPr>
        <p:txBody>
          <a:bodyPr wrap="square">
            <a:spAutoFit/>
          </a:bodyPr>
          <a:lstStyle/>
          <a:p>
            <a:pPr algn="r"/>
            <a:r>
              <a:rPr sz="1100" b="0" i="0">
                <a:solidFill>
                  <a:srgbClr val="616161"/>
                </a:solidFill>
              </a:rPr>
              <a:t>fertiliser −10%</a:t>
            </a:r>
          </a:p>
        </p:txBody>
      </p:sp>
      <p:sp>
        <p:nvSpPr>
          <p:cNvPr id="19" name="Rectangle 18"/>
          <p:cNvSpPr/>
          <p:nvPr/>
        </p:nvSpPr>
        <p:spPr>
          <a:xfrm>
            <a:off x="7589520" y="34290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26679" y="3474720"/>
            <a:ext cx="2011680" cy="347472"/>
          </a:xfrm>
          <a:prstGeom prst="rect">
            <a:avLst/>
          </a:prstGeom>
          <a:noFill/>
        </p:spPr>
        <p:txBody>
          <a:bodyPr wrap="square">
            <a:spAutoFit/>
          </a:bodyPr>
          <a:lstStyle/>
          <a:p>
            <a:pPr algn="l"/>
            <a:r>
              <a:rPr sz="1200" b="0" i="0">
                <a:solidFill>
                  <a:srgbClr val="212121"/>
                </a:solidFill>
              </a:rPr>
              <a:t>Crop insurance</a:t>
            </a:r>
          </a:p>
        </p:txBody>
      </p:sp>
      <p:sp>
        <p:nvSpPr>
          <p:cNvPr id="21" name="TextBox 20"/>
          <p:cNvSpPr txBox="1"/>
          <p:nvPr/>
        </p:nvSpPr>
        <p:spPr>
          <a:xfrm>
            <a:off x="7726679" y="3813048"/>
            <a:ext cx="2286000" cy="347472"/>
          </a:xfrm>
          <a:prstGeom prst="rect">
            <a:avLst/>
          </a:prstGeom>
          <a:noFill/>
        </p:spPr>
        <p:txBody>
          <a:bodyPr wrap="square">
            <a:spAutoFit/>
          </a:bodyPr>
          <a:lstStyle/>
          <a:p>
            <a:pPr algn="l"/>
            <a:r>
              <a:rPr sz="1400" b="1" i="0">
                <a:solidFill>
                  <a:srgbClr val="1B5E20"/>
                </a:solidFill>
              </a:rPr>
              <a:t>60M farmers</a:t>
            </a:r>
          </a:p>
        </p:txBody>
      </p:sp>
      <p:sp>
        <p:nvSpPr>
          <p:cNvPr id="22" name="TextBox 21"/>
          <p:cNvSpPr txBox="1"/>
          <p:nvPr/>
        </p:nvSpPr>
        <p:spPr>
          <a:xfrm>
            <a:off x="10241280" y="3611880"/>
            <a:ext cx="1371600" cy="411480"/>
          </a:xfrm>
          <a:prstGeom prst="rect">
            <a:avLst/>
          </a:prstGeom>
          <a:noFill/>
        </p:spPr>
        <p:txBody>
          <a:bodyPr wrap="square">
            <a:spAutoFit/>
          </a:bodyPr>
          <a:lstStyle/>
          <a:p>
            <a:pPr algn="r"/>
            <a:r>
              <a:rPr sz="1100" b="0" i="0">
                <a:solidFill>
                  <a:srgbClr val="616161"/>
                </a:solidFill>
              </a:rPr>
              <a:t>60% risk coverage</a:t>
            </a:r>
          </a:p>
        </p:txBody>
      </p:sp>
      <p:sp>
        <p:nvSpPr>
          <p:cNvPr id="23" name="Rectangle 22"/>
          <p:cNvSpPr/>
          <p:nvPr/>
        </p:nvSpPr>
        <p:spPr>
          <a:xfrm>
            <a:off x="7589520" y="43434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4389120"/>
            <a:ext cx="2011680" cy="347472"/>
          </a:xfrm>
          <a:prstGeom prst="rect">
            <a:avLst/>
          </a:prstGeom>
          <a:noFill/>
        </p:spPr>
        <p:txBody>
          <a:bodyPr wrap="square">
            <a:spAutoFit/>
          </a:bodyPr>
          <a:lstStyle/>
          <a:p>
            <a:pPr algn="l"/>
            <a:r>
              <a:rPr sz="1200" b="0" i="0">
                <a:solidFill>
                  <a:srgbClr val="212121"/>
                </a:solidFill>
              </a:rPr>
              <a:t>Digital credit</a:t>
            </a:r>
          </a:p>
        </p:txBody>
      </p:sp>
      <p:sp>
        <p:nvSpPr>
          <p:cNvPr id="25" name="TextBox 24"/>
          <p:cNvSpPr txBox="1"/>
          <p:nvPr/>
        </p:nvSpPr>
        <p:spPr>
          <a:xfrm>
            <a:off x="7726679" y="4727448"/>
            <a:ext cx="2286000" cy="347472"/>
          </a:xfrm>
          <a:prstGeom prst="rect">
            <a:avLst/>
          </a:prstGeom>
          <a:noFill/>
        </p:spPr>
        <p:txBody>
          <a:bodyPr wrap="square">
            <a:spAutoFit/>
          </a:bodyPr>
          <a:lstStyle/>
          <a:p>
            <a:pPr algn="l"/>
            <a:r>
              <a:rPr sz="1400" b="1" i="0">
                <a:solidFill>
                  <a:srgbClr val="1B5E20"/>
                </a:solidFill>
              </a:rPr>
              <a:t>70M KCC</a:t>
            </a:r>
          </a:p>
        </p:txBody>
      </p:sp>
      <p:sp>
        <p:nvSpPr>
          <p:cNvPr id="26" name="TextBox 25"/>
          <p:cNvSpPr txBox="1"/>
          <p:nvPr/>
        </p:nvSpPr>
        <p:spPr>
          <a:xfrm>
            <a:off x="10241280" y="4526280"/>
            <a:ext cx="1371600" cy="411480"/>
          </a:xfrm>
          <a:prstGeom prst="rect">
            <a:avLst/>
          </a:prstGeom>
          <a:noFill/>
        </p:spPr>
        <p:txBody>
          <a:bodyPr wrap="square">
            <a:spAutoFit/>
          </a:bodyPr>
          <a:lstStyle/>
          <a:p>
            <a:pPr algn="r"/>
            <a:r>
              <a:rPr sz="1100" b="0" i="0">
                <a:solidFill>
                  <a:srgbClr val="616161"/>
                </a:solidFill>
              </a:rPr>
              <a:t>₹6.6T outstanding</a:t>
            </a:r>
          </a:p>
        </p:txBody>
      </p:sp>
      <p:sp>
        <p:nvSpPr>
          <p:cNvPr id="27" name="Rectangle 26"/>
          <p:cNvSpPr/>
          <p:nvPr/>
        </p:nvSpPr>
        <p:spPr>
          <a:xfrm>
            <a:off x="7589520" y="5257800"/>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26679" y="5303520"/>
            <a:ext cx="2011680" cy="347472"/>
          </a:xfrm>
          <a:prstGeom prst="rect">
            <a:avLst/>
          </a:prstGeom>
          <a:noFill/>
        </p:spPr>
        <p:txBody>
          <a:bodyPr wrap="square">
            <a:spAutoFit/>
          </a:bodyPr>
          <a:lstStyle/>
          <a:p>
            <a:pPr algn="l"/>
            <a:r>
              <a:rPr sz="1200" b="0" i="0">
                <a:solidFill>
                  <a:srgbClr val="212121"/>
                </a:solidFill>
              </a:rPr>
              <a:t>Food production</a:t>
            </a:r>
          </a:p>
        </p:txBody>
      </p:sp>
      <p:sp>
        <p:nvSpPr>
          <p:cNvPr id="29" name="TextBox 28"/>
          <p:cNvSpPr txBox="1"/>
          <p:nvPr/>
        </p:nvSpPr>
        <p:spPr>
          <a:xfrm>
            <a:off x="7726679" y="5641848"/>
            <a:ext cx="2286000" cy="347472"/>
          </a:xfrm>
          <a:prstGeom prst="rect">
            <a:avLst/>
          </a:prstGeom>
          <a:noFill/>
        </p:spPr>
        <p:txBody>
          <a:bodyPr wrap="square">
            <a:spAutoFit/>
          </a:bodyPr>
          <a:lstStyle/>
          <a:p>
            <a:pPr algn="l"/>
            <a:r>
              <a:rPr sz="1400" b="1" i="0">
                <a:solidFill>
                  <a:srgbClr val="1B5E20"/>
                </a:solidFill>
              </a:rPr>
              <a:t>330M tonnes</a:t>
            </a:r>
          </a:p>
        </p:txBody>
      </p:sp>
      <p:sp>
        <p:nvSpPr>
          <p:cNvPr id="30" name="TextBox 29"/>
          <p:cNvSpPr txBox="1"/>
          <p:nvPr/>
        </p:nvSpPr>
        <p:spPr>
          <a:xfrm>
            <a:off x="10241280" y="5440680"/>
            <a:ext cx="1371600" cy="411480"/>
          </a:xfrm>
          <a:prstGeom prst="rect">
            <a:avLst/>
          </a:prstGeom>
          <a:noFill/>
        </p:spPr>
        <p:txBody>
          <a:bodyPr wrap="square">
            <a:spAutoFit/>
          </a:bodyPr>
          <a:lstStyle/>
          <a:p>
            <a:pPr algn="r"/>
            <a:r>
              <a:rPr sz="1100" b="0" i="0">
                <a:solidFill>
                  <a:srgbClr val="616161"/>
                </a:solidFill>
              </a:rPr>
              <a:t>record 2023–24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Benefit 1: Increased Productivity</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Benefits &amp; Impact</a:t>
            </a:r>
          </a:p>
        </p:txBody>
      </p:sp>
      <p:graphicFrame>
        <p:nvGraphicFramePr>
          <p:cNvPr id="5" name="Chart 4"/>
          <p:cNvGraphicFramePr>
            <a:graphicFrameLocks noGrp="1"/>
          </p:cNvGraphicFramePr>
          <p:nvPr/>
        </p:nvGraphicFramePr>
        <p:xfrm>
          <a:off x="274320" y="1051560"/>
          <a:ext cx="6858000" cy="5303520"/>
        </p:xfrm>
        <a:graphic>
          <a:graphicData uri="http://schemas.openxmlformats.org/drawingml/2006/chart">
            <c:chart xmlns:c="http://schemas.openxmlformats.org/drawingml/2006/chart" r:id="rId2"/>
          </a:graphicData>
        </a:graphic>
      </p:graphicFrame>
      <p:sp>
        <p:nvSpPr>
          <p:cNvPr id="6" name="TextBox 5"/>
          <p:cNvSpPr txBox="1"/>
          <p:nvPr/>
        </p:nvSpPr>
        <p:spPr>
          <a:xfrm>
            <a:off x="7406640" y="1051560"/>
            <a:ext cx="4572000" cy="457200"/>
          </a:xfrm>
          <a:prstGeom prst="rect">
            <a:avLst/>
          </a:prstGeom>
          <a:noFill/>
        </p:spPr>
        <p:txBody>
          <a:bodyPr wrap="square">
            <a:spAutoFit/>
          </a:bodyPr>
          <a:lstStyle/>
          <a:p>
            <a:pPr algn="l"/>
            <a:r>
              <a:rPr sz="1600" b="1" i="0">
                <a:solidFill>
                  <a:srgbClr val="1B5E20"/>
                </a:solidFill>
              </a:rPr>
              <a:t>Key Productivity Gains</a:t>
            </a:r>
          </a:p>
        </p:txBody>
      </p:sp>
      <p:sp>
        <p:nvSpPr>
          <p:cNvPr id="7" name="TextBox 6"/>
          <p:cNvSpPr txBox="1"/>
          <p:nvPr/>
        </p:nvSpPr>
        <p:spPr>
          <a:xfrm>
            <a:off x="7406640" y="1600200"/>
            <a:ext cx="4572000" cy="4572000"/>
          </a:xfrm>
          <a:prstGeom prst="rect">
            <a:avLst/>
          </a:prstGeom>
          <a:noFill/>
        </p:spPr>
        <p:txBody>
          <a:bodyPr wrap="square">
            <a:spAutoFit/>
          </a:bodyPr>
          <a:lstStyle/>
          <a:p>
            <a:pPr>
              <a:spcBef>
                <a:spcPts val="400"/>
              </a:spcBef>
            </a:pPr>
            <a:r>
              <a:rPr sz="1400">
                <a:solidFill>
                  <a:srgbClr val="212121"/>
                </a:solidFill>
              </a:rPr>
              <a:t>▸ Precision inputs increase yields 20–80% depending on crop</a:t>
            </a:r>
          </a:p>
          <a:p>
            <a:pPr>
              <a:spcBef>
                <a:spcPts val="400"/>
              </a:spcBef>
            </a:pPr>
            <a:r>
              <a:rPr sz="1400">
                <a:solidFill>
                  <a:srgbClr val="212121"/>
                </a:solidFill>
              </a:rPr>
              <a:t>▸ Reduced waste: post-harvest losses cut from 40% to &lt;10%</a:t>
            </a:r>
          </a:p>
          <a:p>
            <a:pPr>
              <a:spcBef>
                <a:spcPts val="400"/>
              </a:spcBef>
            </a:pPr>
            <a:r>
              <a:rPr sz="1400">
                <a:solidFill>
                  <a:srgbClr val="212121"/>
                </a:solidFill>
              </a:rPr>
              <a:t>▸ Year-round production via irrigation &amp; protected cultivation</a:t>
            </a:r>
          </a:p>
          <a:p>
            <a:pPr>
              <a:spcBef>
                <a:spcPts val="400"/>
              </a:spcBef>
            </a:pPr>
            <a:r>
              <a:rPr sz="1400">
                <a:solidFill>
                  <a:srgbClr val="212121"/>
                </a:solidFill>
              </a:rPr>
              <a:t>▸ Better varieties: GM/hybrid seeds 30–50% higher yield potential</a:t>
            </a:r>
          </a:p>
          <a:p>
            <a:pPr>
              <a:spcBef>
                <a:spcPts val="400"/>
              </a:spcBef>
            </a:pPr>
            <a:r>
              <a:rPr sz="1400">
                <a:solidFill>
                  <a:srgbClr val="212121"/>
                </a:solidFill>
              </a:rPr>
              <a:t>▸ Optimised spacing &amp; density via digital farm planning</a:t>
            </a:r>
          </a:p>
          <a:p>
            <a:pPr>
              <a:spcBef>
                <a:spcPts val="400"/>
              </a:spcBef>
            </a:pPr>
            <a:r>
              <a:rPr sz="1400">
                <a:solidFill>
                  <a:srgbClr val="212121"/>
                </a:solidFill>
              </a:rPr>
              <a:t>▸ Real-time crop monitoring prevents 15–25% yield loss from disease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Benefit 2: Environmental Benefits</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Benefits &amp; Impact</a:t>
            </a:r>
          </a:p>
        </p:txBody>
      </p:sp>
      <p:sp>
        <p:nvSpPr>
          <p:cNvPr id="5" name="Rectangle 4"/>
          <p:cNvSpPr/>
          <p:nvPr/>
        </p:nvSpPr>
        <p:spPr>
          <a:xfrm>
            <a:off x="320040" y="1097280"/>
            <a:ext cx="5669280" cy="1645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70432"/>
            <a:ext cx="5394960" cy="411480"/>
          </a:xfrm>
          <a:prstGeom prst="rect">
            <a:avLst/>
          </a:prstGeom>
          <a:noFill/>
        </p:spPr>
        <p:txBody>
          <a:bodyPr wrap="square">
            <a:spAutoFit/>
          </a:bodyPr>
          <a:lstStyle/>
          <a:p>
            <a:pPr algn="l"/>
            <a:r>
              <a:rPr sz="1400" b="1" i="0">
                <a:solidFill>
                  <a:srgbClr val="1B5E20"/>
                </a:solidFill>
              </a:rPr>
              <a:t>🌍  Carbon Sequestration</a:t>
            </a:r>
          </a:p>
        </p:txBody>
      </p:sp>
      <p:sp>
        <p:nvSpPr>
          <p:cNvPr id="7" name="TextBox 6"/>
          <p:cNvSpPr txBox="1"/>
          <p:nvPr/>
        </p:nvSpPr>
        <p:spPr>
          <a:xfrm>
            <a:off x="457200" y="1600200"/>
            <a:ext cx="5394960" cy="1005840"/>
          </a:xfrm>
          <a:prstGeom prst="rect">
            <a:avLst/>
          </a:prstGeom>
          <a:noFill/>
        </p:spPr>
        <p:txBody>
          <a:bodyPr wrap="square">
            <a:spAutoFit/>
          </a:bodyPr>
          <a:lstStyle/>
          <a:p>
            <a:pPr algn="l"/>
            <a:r>
              <a:rPr sz="1200" b="0" i="0">
                <a:solidFill>
                  <a:srgbClr val="212121"/>
                </a:solidFill>
              </a:rPr>
              <a:t>Regenerative practices can sequester 1–4 t CO₂/ha/year;</a:t>
            </a:r>
            <a:br/>
            <a:r>
              <a:t>global agri-land has potential to offset 30% of current GHG</a:t>
            </a:r>
          </a:p>
        </p:txBody>
      </p:sp>
      <p:sp>
        <p:nvSpPr>
          <p:cNvPr id="8" name="Rectangle 7"/>
          <p:cNvSpPr/>
          <p:nvPr/>
        </p:nvSpPr>
        <p:spPr>
          <a:xfrm>
            <a:off x="6309360" y="109728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170432"/>
            <a:ext cx="5394960" cy="411480"/>
          </a:xfrm>
          <a:prstGeom prst="rect">
            <a:avLst/>
          </a:prstGeom>
          <a:noFill/>
        </p:spPr>
        <p:txBody>
          <a:bodyPr wrap="square">
            <a:spAutoFit/>
          </a:bodyPr>
          <a:lstStyle/>
          <a:p>
            <a:pPr algn="l"/>
            <a:r>
              <a:rPr sz="1400" b="1" i="0">
                <a:solidFill>
                  <a:srgbClr val="1B5E20"/>
                </a:solidFill>
              </a:rPr>
              <a:t>💧  Water Conservation</a:t>
            </a:r>
          </a:p>
        </p:txBody>
      </p:sp>
      <p:sp>
        <p:nvSpPr>
          <p:cNvPr id="10" name="TextBox 9"/>
          <p:cNvSpPr txBox="1"/>
          <p:nvPr/>
        </p:nvSpPr>
        <p:spPr>
          <a:xfrm>
            <a:off x="6446520" y="1600200"/>
            <a:ext cx="5394960" cy="1005840"/>
          </a:xfrm>
          <a:prstGeom prst="rect">
            <a:avLst/>
          </a:prstGeom>
          <a:noFill/>
        </p:spPr>
        <p:txBody>
          <a:bodyPr wrap="square">
            <a:spAutoFit/>
          </a:bodyPr>
          <a:lstStyle/>
          <a:p>
            <a:pPr algn="l"/>
            <a:r>
              <a:rPr sz="1200" b="0" i="0">
                <a:solidFill>
                  <a:srgbClr val="212121"/>
                </a:solidFill>
              </a:rPr>
              <a:t>Smart irrigation and water harvesting reduce agricultural</a:t>
            </a:r>
            <a:br/>
            <a:r>
              <a:t>water use 40–60% while maintaining or improving yields</a:t>
            </a:r>
          </a:p>
        </p:txBody>
      </p:sp>
      <p:sp>
        <p:nvSpPr>
          <p:cNvPr id="11" name="Rectangle 10"/>
          <p:cNvSpPr/>
          <p:nvPr/>
        </p:nvSpPr>
        <p:spPr>
          <a:xfrm>
            <a:off x="320040" y="2834640"/>
            <a:ext cx="5669280" cy="1645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907792"/>
            <a:ext cx="5394960" cy="411480"/>
          </a:xfrm>
          <a:prstGeom prst="rect">
            <a:avLst/>
          </a:prstGeom>
          <a:noFill/>
        </p:spPr>
        <p:txBody>
          <a:bodyPr wrap="square">
            <a:spAutoFit/>
          </a:bodyPr>
          <a:lstStyle/>
          <a:p>
            <a:pPr algn="l"/>
            <a:r>
              <a:rPr sz="1400" b="1" i="0">
                <a:solidFill>
                  <a:srgbClr val="1B5E20"/>
                </a:solidFill>
              </a:rPr>
              <a:t>🌿  Biodiversity Restoration</a:t>
            </a:r>
          </a:p>
        </p:txBody>
      </p:sp>
      <p:sp>
        <p:nvSpPr>
          <p:cNvPr id="13" name="TextBox 12"/>
          <p:cNvSpPr txBox="1"/>
          <p:nvPr/>
        </p:nvSpPr>
        <p:spPr>
          <a:xfrm>
            <a:off x="457200" y="3337560"/>
            <a:ext cx="5394960" cy="1005840"/>
          </a:xfrm>
          <a:prstGeom prst="rect">
            <a:avLst/>
          </a:prstGeom>
          <a:noFill/>
        </p:spPr>
        <p:txBody>
          <a:bodyPr wrap="square">
            <a:spAutoFit/>
          </a:bodyPr>
          <a:lstStyle/>
          <a:p>
            <a:pPr algn="l"/>
            <a:r>
              <a:rPr sz="1200" b="0" i="0">
                <a:solidFill>
                  <a:srgbClr val="212121"/>
                </a:solidFill>
              </a:rPr>
              <a:t>Agroforestry and hedgerow integration increases on-farm</a:t>
            </a:r>
            <a:br/>
            <a:r>
              <a:t>bird species 30%, insect pollinator populations up 45%</a:t>
            </a:r>
          </a:p>
        </p:txBody>
      </p:sp>
      <p:sp>
        <p:nvSpPr>
          <p:cNvPr id="14" name="Rectangle 13"/>
          <p:cNvSpPr/>
          <p:nvPr/>
        </p:nvSpPr>
        <p:spPr>
          <a:xfrm>
            <a:off x="6309360" y="283464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907792"/>
            <a:ext cx="5394960" cy="411480"/>
          </a:xfrm>
          <a:prstGeom prst="rect">
            <a:avLst/>
          </a:prstGeom>
          <a:noFill/>
        </p:spPr>
        <p:txBody>
          <a:bodyPr wrap="square">
            <a:spAutoFit/>
          </a:bodyPr>
          <a:lstStyle/>
          <a:p>
            <a:pPr algn="l"/>
            <a:r>
              <a:rPr sz="1400" b="1" i="0">
                <a:solidFill>
                  <a:srgbClr val="1B5E20"/>
                </a:solidFill>
              </a:rPr>
              <a:t>🪨  Soil Health Recovery</a:t>
            </a:r>
          </a:p>
        </p:txBody>
      </p:sp>
      <p:sp>
        <p:nvSpPr>
          <p:cNvPr id="16" name="TextBox 15"/>
          <p:cNvSpPr txBox="1"/>
          <p:nvPr/>
        </p:nvSpPr>
        <p:spPr>
          <a:xfrm>
            <a:off x="6446520" y="3337560"/>
            <a:ext cx="5394960" cy="1005840"/>
          </a:xfrm>
          <a:prstGeom prst="rect">
            <a:avLst/>
          </a:prstGeom>
          <a:noFill/>
        </p:spPr>
        <p:txBody>
          <a:bodyPr wrap="square">
            <a:spAutoFit/>
          </a:bodyPr>
          <a:lstStyle/>
          <a:p>
            <a:pPr algn="l"/>
            <a:r>
              <a:rPr sz="1200" b="0" i="0">
                <a:solidFill>
                  <a:srgbClr val="212121"/>
                </a:solidFill>
              </a:rPr>
              <a:t>Conservation tillage + cover crops rebuild 0.5–1% soil</a:t>
            </a:r>
            <a:br/>
            <a:r>
              <a:t>organic matter per year, reversing decades of degradation</a:t>
            </a:r>
          </a:p>
        </p:txBody>
      </p:sp>
      <p:sp>
        <p:nvSpPr>
          <p:cNvPr id="17" name="Rectangle 16"/>
          <p:cNvSpPr/>
          <p:nvPr/>
        </p:nvSpPr>
        <p:spPr>
          <a:xfrm>
            <a:off x="320040" y="4572000"/>
            <a:ext cx="5669280" cy="1645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645152"/>
            <a:ext cx="5394960" cy="411480"/>
          </a:xfrm>
          <a:prstGeom prst="rect">
            <a:avLst/>
          </a:prstGeom>
          <a:noFill/>
        </p:spPr>
        <p:txBody>
          <a:bodyPr wrap="square">
            <a:spAutoFit/>
          </a:bodyPr>
          <a:lstStyle/>
          <a:p>
            <a:pPr algn="l"/>
            <a:r>
              <a:rPr sz="1400" b="1" i="0">
                <a:solidFill>
                  <a:srgbClr val="1B5E20"/>
                </a:solidFill>
              </a:rPr>
              <a:t>🏭  Reduced Chemical Pollution</a:t>
            </a:r>
          </a:p>
        </p:txBody>
      </p:sp>
      <p:sp>
        <p:nvSpPr>
          <p:cNvPr id="19" name="TextBox 18"/>
          <p:cNvSpPr txBox="1"/>
          <p:nvPr/>
        </p:nvSpPr>
        <p:spPr>
          <a:xfrm>
            <a:off x="457200" y="5074920"/>
            <a:ext cx="5394960" cy="1005840"/>
          </a:xfrm>
          <a:prstGeom prst="rect">
            <a:avLst/>
          </a:prstGeom>
          <a:noFill/>
        </p:spPr>
        <p:txBody>
          <a:bodyPr wrap="square">
            <a:spAutoFit/>
          </a:bodyPr>
          <a:lstStyle/>
          <a:p>
            <a:pPr algn="l"/>
            <a:r>
              <a:rPr sz="1200" b="0" i="0">
                <a:solidFill>
                  <a:srgbClr val="212121"/>
                </a:solidFill>
              </a:rPr>
              <a:t>IPM and precision application cut pesticide/herbicide</a:t>
            </a:r>
            <a:br/>
            <a:r>
              <a:t>runoff 60–80%, restoring aquatic ecosystems</a:t>
            </a:r>
          </a:p>
        </p:txBody>
      </p:sp>
      <p:sp>
        <p:nvSpPr>
          <p:cNvPr id="20" name="Rectangle 19"/>
          <p:cNvSpPr/>
          <p:nvPr/>
        </p:nvSpPr>
        <p:spPr>
          <a:xfrm>
            <a:off x="6309360" y="457200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645152"/>
            <a:ext cx="5394960" cy="411480"/>
          </a:xfrm>
          <a:prstGeom prst="rect">
            <a:avLst/>
          </a:prstGeom>
          <a:noFill/>
        </p:spPr>
        <p:txBody>
          <a:bodyPr wrap="square">
            <a:spAutoFit/>
          </a:bodyPr>
          <a:lstStyle/>
          <a:p>
            <a:pPr algn="l"/>
            <a:r>
              <a:rPr sz="1400" b="1" i="0">
                <a:solidFill>
                  <a:srgbClr val="1B5E20"/>
                </a:solidFill>
              </a:rPr>
              <a:t>🌲  Deforestation Prevention</a:t>
            </a:r>
          </a:p>
        </p:txBody>
      </p:sp>
      <p:sp>
        <p:nvSpPr>
          <p:cNvPr id="22" name="TextBox 21"/>
          <p:cNvSpPr txBox="1"/>
          <p:nvPr/>
        </p:nvSpPr>
        <p:spPr>
          <a:xfrm>
            <a:off x="6446520" y="5074920"/>
            <a:ext cx="5394960" cy="1005840"/>
          </a:xfrm>
          <a:prstGeom prst="rect">
            <a:avLst/>
          </a:prstGeom>
          <a:noFill/>
        </p:spPr>
        <p:txBody>
          <a:bodyPr wrap="square">
            <a:spAutoFit/>
          </a:bodyPr>
          <a:lstStyle/>
          <a:p>
            <a:pPr algn="l"/>
            <a:r>
              <a:rPr sz="1200" b="0" i="0">
                <a:solidFill>
                  <a:srgbClr val="212121"/>
                </a:solidFill>
              </a:rPr>
              <a:t>Higher yields on existing land reduce pressure to clear</a:t>
            </a:r>
            <a:br/>
            <a:r>
              <a:t>new forest – estimated 100M ha saved by 2030 (CGIAR)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Benefit 3: Economic &amp; Social Impact</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Benefits &amp; Impact</a:t>
            </a:r>
          </a:p>
        </p:txBody>
      </p:sp>
      <p:sp>
        <p:nvSpPr>
          <p:cNvPr id="5" name="Rectangle 4"/>
          <p:cNvSpPr/>
          <p:nvPr/>
        </p:nvSpPr>
        <p:spPr>
          <a:xfrm>
            <a:off x="365760" y="1051560"/>
            <a:ext cx="5394960" cy="4572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51560"/>
            <a:ext cx="5394960" cy="457200"/>
          </a:xfrm>
          <a:prstGeom prst="rect">
            <a:avLst/>
          </a:prstGeom>
          <a:noFill/>
        </p:spPr>
        <p:txBody>
          <a:bodyPr wrap="square">
            <a:spAutoFit/>
          </a:bodyPr>
          <a:lstStyle/>
          <a:p>
            <a:pPr algn="l"/>
            <a:r>
              <a:rPr sz="1600" b="1" i="0">
                <a:solidFill>
                  <a:srgbClr val="FFFFFF"/>
                </a:solidFill>
              </a:rPr>
              <a:t>  Economic Advantages</a:t>
            </a:r>
          </a:p>
        </p:txBody>
      </p:sp>
      <p:sp>
        <p:nvSpPr>
          <p:cNvPr id="7" name="Rectangle 6"/>
          <p:cNvSpPr/>
          <p:nvPr/>
        </p:nvSpPr>
        <p:spPr>
          <a:xfrm>
            <a:off x="365760" y="1508760"/>
            <a:ext cx="5394960" cy="5029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00200"/>
            <a:ext cx="5120640" cy="4754880"/>
          </a:xfrm>
          <a:prstGeom prst="rect">
            <a:avLst/>
          </a:prstGeom>
          <a:noFill/>
        </p:spPr>
        <p:txBody>
          <a:bodyPr wrap="square">
            <a:spAutoFit/>
          </a:bodyPr>
          <a:lstStyle/>
          <a:p>
            <a:pPr>
              <a:spcBef>
                <a:spcPts val="400"/>
              </a:spcBef>
            </a:pPr>
            <a:r>
              <a:rPr sz="1400">
                <a:solidFill>
                  <a:srgbClr val="212121"/>
                </a:solidFill>
              </a:rPr>
              <a:t>▸ Farmer income doubles to triples with market linkage</a:t>
            </a:r>
          </a:p>
          <a:p>
            <a:pPr>
              <a:spcBef>
                <a:spcPts val="400"/>
              </a:spcBef>
            </a:pPr>
            <a:r>
              <a:rPr sz="1400">
                <a:solidFill>
                  <a:srgbClr val="212121"/>
                </a:solidFill>
              </a:rPr>
              <a:t>▸ Rural GDP growth: +1.5–2% per 10% yield improvement</a:t>
            </a:r>
          </a:p>
          <a:p>
            <a:pPr>
              <a:spcBef>
                <a:spcPts val="400"/>
              </a:spcBef>
            </a:pPr>
            <a:r>
              <a:rPr sz="1400">
                <a:solidFill>
                  <a:srgbClr val="212121"/>
                </a:solidFill>
              </a:rPr>
              <a:t>▸ $1 ag investment creates $3–5 of wider economic activity</a:t>
            </a:r>
          </a:p>
          <a:p>
            <a:pPr>
              <a:spcBef>
                <a:spcPts val="400"/>
              </a:spcBef>
            </a:pPr>
            <a:r>
              <a:rPr sz="1400">
                <a:solidFill>
                  <a:srgbClr val="212121"/>
                </a:solidFill>
              </a:rPr>
              <a:t>▸ Agri-food processing creates 10x more jobs than raw export</a:t>
            </a:r>
          </a:p>
          <a:p>
            <a:pPr>
              <a:spcBef>
                <a:spcPts val="400"/>
              </a:spcBef>
            </a:pPr>
            <a:r>
              <a:rPr sz="1400">
                <a:solidFill>
                  <a:srgbClr val="212121"/>
                </a:solidFill>
              </a:rPr>
              <a:t>▸ Export diversification: reduces FX vulnerability</a:t>
            </a:r>
          </a:p>
          <a:p>
            <a:pPr>
              <a:spcBef>
                <a:spcPts val="400"/>
              </a:spcBef>
            </a:pPr>
            <a:r>
              <a:rPr sz="1400">
                <a:solidFill>
                  <a:srgbClr val="212121"/>
                </a:solidFill>
              </a:rPr>
              <a:t>▸ Input-cost savings: 20–40% from precision application</a:t>
            </a:r>
          </a:p>
          <a:p>
            <a:pPr>
              <a:spcBef>
                <a:spcPts val="400"/>
              </a:spcBef>
            </a:pPr>
            <a:r>
              <a:rPr sz="1400">
                <a:solidFill>
                  <a:srgbClr val="212121"/>
                </a:solidFill>
              </a:rPr>
              <a:t>▸ Reduced food import bills: national fiscal savings</a:t>
            </a:r>
          </a:p>
        </p:txBody>
      </p:sp>
      <p:sp>
        <p:nvSpPr>
          <p:cNvPr id="9" name="Rectangle 8"/>
          <p:cNvSpPr/>
          <p:nvPr/>
        </p:nvSpPr>
        <p:spPr>
          <a:xfrm>
            <a:off x="6309360" y="1051560"/>
            <a:ext cx="5394960" cy="457200"/>
          </a:xfrm>
          <a:prstGeom prst="rect">
            <a:avLst/>
          </a:prstGeom>
          <a:solidFill>
            <a:srgbClr val="5D4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051560"/>
            <a:ext cx="5394960" cy="457200"/>
          </a:xfrm>
          <a:prstGeom prst="rect">
            <a:avLst/>
          </a:prstGeom>
          <a:noFill/>
        </p:spPr>
        <p:txBody>
          <a:bodyPr wrap="square">
            <a:spAutoFit/>
          </a:bodyPr>
          <a:lstStyle/>
          <a:p>
            <a:pPr algn="l"/>
            <a:r>
              <a:rPr sz="1600" b="1" i="0">
                <a:solidFill>
                  <a:srgbClr val="FFFFFF"/>
                </a:solidFill>
              </a:rPr>
              <a:t>  Social Impact</a:t>
            </a:r>
          </a:p>
        </p:txBody>
      </p:sp>
      <p:sp>
        <p:nvSpPr>
          <p:cNvPr id="11" name="Rectangle 10"/>
          <p:cNvSpPr/>
          <p:nvPr/>
        </p:nvSpPr>
        <p:spPr>
          <a:xfrm>
            <a:off x="6309360" y="1508760"/>
            <a:ext cx="5394960" cy="502920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600200"/>
            <a:ext cx="5120640" cy="4754880"/>
          </a:xfrm>
          <a:prstGeom prst="rect">
            <a:avLst/>
          </a:prstGeom>
          <a:noFill/>
        </p:spPr>
        <p:txBody>
          <a:bodyPr wrap="square">
            <a:spAutoFit/>
          </a:bodyPr>
          <a:lstStyle/>
          <a:p>
            <a:pPr>
              <a:spcBef>
                <a:spcPts val="400"/>
              </a:spcBef>
            </a:pPr>
            <a:r>
              <a:rPr sz="1400">
                <a:solidFill>
                  <a:srgbClr val="212121"/>
                </a:solidFill>
              </a:rPr>
              <a:t>▸ Food security: 100–150 million lifted from hunger</a:t>
            </a:r>
          </a:p>
          <a:p>
            <a:pPr>
              <a:spcBef>
                <a:spcPts val="400"/>
              </a:spcBef>
            </a:pPr>
            <a:r>
              <a:rPr sz="1400">
                <a:solidFill>
                  <a:srgbClr val="212121"/>
                </a:solidFill>
              </a:rPr>
              <a:t>▸ Gender equity: digital tools empower women farmers</a:t>
            </a:r>
          </a:p>
          <a:p>
            <a:pPr>
              <a:spcBef>
                <a:spcPts val="400"/>
              </a:spcBef>
            </a:pPr>
            <a:r>
              <a:rPr sz="1400">
                <a:solidFill>
                  <a:srgbClr val="212121"/>
                </a:solidFill>
              </a:rPr>
              <a:t>▸ Youth employment: agri-tech creates 'cool' rural jobs</a:t>
            </a:r>
          </a:p>
          <a:p>
            <a:pPr>
              <a:spcBef>
                <a:spcPts val="400"/>
              </a:spcBef>
            </a:pPr>
            <a:r>
              <a:rPr sz="1400">
                <a:solidFill>
                  <a:srgbClr val="212121"/>
                </a:solidFill>
              </a:rPr>
              <a:t>▸ Nutrition: diversified crops improve dietary quality</a:t>
            </a:r>
          </a:p>
          <a:p>
            <a:pPr>
              <a:spcBef>
                <a:spcPts val="400"/>
              </a:spcBef>
            </a:pPr>
            <a:r>
              <a:rPr sz="1400">
                <a:solidFill>
                  <a:srgbClr val="212121"/>
                </a:solidFill>
              </a:rPr>
              <a:t>▸ Education: higher incomes fund children's schooling</a:t>
            </a:r>
          </a:p>
          <a:p>
            <a:pPr>
              <a:spcBef>
                <a:spcPts val="400"/>
              </a:spcBef>
            </a:pPr>
            <a:r>
              <a:rPr sz="1400">
                <a:solidFill>
                  <a:srgbClr val="212121"/>
                </a:solidFill>
              </a:rPr>
              <a:t>▸ Healthcare: safer pesticide practices, less illness</a:t>
            </a:r>
          </a:p>
          <a:p>
            <a:pPr>
              <a:spcBef>
                <a:spcPts val="400"/>
              </a:spcBef>
            </a:pPr>
            <a:r>
              <a:rPr sz="1400">
                <a:solidFill>
                  <a:srgbClr val="212121"/>
                </a:solidFill>
              </a:rPr>
              <a:t>▸ Reduced rural-urban migration and urban pressure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Challenges: Implementation Barriers</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Challenges &amp; Solutions</a:t>
            </a:r>
          </a:p>
        </p:txBody>
      </p:sp>
      <p:sp>
        <p:nvSpPr>
          <p:cNvPr id="5" name="Rectangle 4"/>
          <p:cNvSpPr/>
          <p:nvPr/>
        </p:nvSpPr>
        <p:spPr>
          <a:xfrm>
            <a:off x="274320" y="1051560"/>
            <a:ext cx="3657600" cy="24231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24712"/>
            <a:ext cx="3383280" cy="384048"/>
          </a:xfrm>
          <a:prstGeom prst="rect">
            <a:avLst/>
          </a:prstGeom>
          <a:noFill/>
        </p:spPr>
        <p:txBody>
          <a:bodyPr wrap="square">
            <a:spAutoFit/>
          </a:bodyPr>
          <a:lstStyle/>
          <a:p>
            <a:pPr algn="l"/>
            <a:r>
              <a:rPr sz="1400" b="1" i="0">
                <a:solidFill>
                  <a:srgbClr val="1B5E20"/>
                </a:solidFill>
              </a:rPr>
              <a:t>Financial</a:t>
            </a:r>
          </a:p>
        </p:txBody>
      </p:sp>
      <p:sp>
        <p:nvSpPr>
          <p:cNvPr id="7" name="TextBox 6"/>
          <p:cNvSpPr txBox="1"/>
          <p:nvPr/>
        </p:nvSpPr>
        <p:spPr>
          <a:xfrm>
            <a:off x="365760" y="1554480"/>
            <a:ext cx="3474720" cy="1828800"/>
          </a:xfrm>
          <a:prstGeom prst="rect">
            <a:avLst/>
          </a:prstGeom>
          <a:noFill/>
        </p:spPr>
        <p:txBody>
          <a:bodyPr wrap="square">
            <a:spAutoFit/>
          </a:bodyPr>
          <a:lstStyle/>
          <a:p>
            <a:pPr>
              <a:spcBef>
                <a:spcPts val="400"/>
              </a:spcBef>
            </a:pPr>
            <a:r>
              <a:rPr sz="1200">
                <a:solidFill>
                  <a:srgbClr val="212121"/>
                </a:solidFill>
              </a:rPr>
              <a:t>▸ High upfront technology cost</a:t>
            </a:r>
          </a:p>
          <a:p>
            <a:pPr>
              <a:spcBef>
                <a:spcPts val="400"/>
              </a:spcBef>
            </a:pPr>
            <a:r>
              <a:rPr sz="1200">
                <a:solidFill>
                  <a:srgbClr val="212121"/>
                </a:solidFill>
              </a:rPr>
              <a:t>▸ Limited rural credit access</a:t>
            </a:r>
          </a:p>
          <a:p>
            <a:pPr>
              <a:spcBef>
                <a:spcPts val="400"/>
              </a:spcBef>
            </a:pPr>
            <a:r>
              <a:rPr sz="1200">
                <a:solidFill>
                  <a:srgbClr val="212121"/>
                </a:solidFill>
              </a:rPr>
              <a:t>▸ $170B global smallholder finance gap</a:t>
            </a:r>
          </a:p>
          <a:p>
            <a:pPr>
              <a:spcBef>
                <a:spcPts val="400"/>
              </a:spcBef>
            </a:pPr>
            <a:r>
              <a:rPr sz="1200">
                <a:solidFill>
                  <a:srgbClr val="212121"/>
                </a:solidFill>
              </a:rPr>
              <a:t>▸ Short loan tenors vs. long ag cycles</a:t>
            </a:r>
          </a:p>
        </p:txBody>
      </p:sp>
      <p:sp>
        <p:nvSpPr>
          <p:cNvPr id="8" name="Rectangle 7"/>
          <p:cNvSpPr/>
          <p:nvPr/>
        </p:nvSpPr>
        <p:spPr>
          <a:xfrm>
            <a:off x="4251960" y="1051560"/>
            <a:ext cx="3657600" cy="24231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124712"/>
            <a:ext cx="3383280" cy="384048"/>
          </a:xfrm>
          <a:prstGeom prst="rect">
            <a:avLst/>
          </a:prstGeom>
          <a:noFill/>
        </p:spPr>
        <p:txBody>
          <a:bodyPr wrap="square">
            <a:spAutoFit/>
          </a:bodyPr>
          <a:lstStyle/>
          <a:p>
            <a:pPr algn="l"/>
            <a:r>
              <a:rPr sz="1400" b="1" i="0">
                <a:solidFill>
                  <a:srgbClr val="1B5E20"/>
                </a:solidFill>
              </a:rPr>
              <a:t>Capacity</a:t>
            </a:r>
          </a:p>
        </p:txBody>
      </p:sp>
      <p:sp>
        <p:nvSpPr>
          <p:cNvPr id="10" name="TextBox 9"/>
          <p:cNvSpPr txBox="1"/>
          <p:nvPr/>
        </p:nvSpPr>
        <p:spPr>
          <a:xfrm>
            <a:off x="4343400" y="1554480"/>
            <a:ext cx="3474720" cy="1828800"/>
          </a:xfrm>
          <a:prstGeom prst="rect">
            <a:avLst/>
          </a:prstGeom>
          <a:noFill/>
        </p:spPr>
        <p:txBody>
          <a:bodyPr wrap="square">
            <a:spAutoFit/>
          </a:bodyPr>
          <a:lstStyle/>
          <a:p>
            <a:pPr>
              <a:spcBef>
                <a:spcPts val="400"/>
              </a:spcBef>
            </a:pPr>
            <a:r>
              <a:rPr sz="1200">
                <a:solidFill>
                  <a:srgbClr val="212121"/>
                </a:solidFill>
              </a:rPr>
              <a:t>▸ Low digital literacy among farmers</a:t>
            </a:r>
          </a:p>
          <a:p>
            <a:pPr>
              <a:spcBef>
                <a:spcPts val="400"/>
              </a:spcBef>
            </a:pPr>
            <a:r>
              <a:rPr sz="1200">
                <a:solidFill>
                  <a:srgbClr val="212121"/>
                </a:solidFill>
              </a:rPr>
              <a:t>▸ Shortage of extension workers</a:t>
            </a:r>
          </a:p>
          <a:p>
            <a:pPr>
              <a:spcBef>
                <a:spcPts val="400"/>
              </a:spcBef>
            </a:pPr>
            <a:r>
              <a:rPr sz="1200">
                <a:solidFill>
                  <a:srgbClr val="212121"/>
                </a:solidFill>
              </a:rPr>
              <a:t>▸ Inadequate agricultural education</a:t>
            </a:r>
          </a:p>
          <a:p>
            <a:pPr>
              <a:spcBef>
                <a:spcPts val="400"/>
              </a:spcBef>
            </a:pPr>
            <a:r>
              <a:rPr sz="1200">
                <a:solidFill>
                  <a:srgbClr val="212121"/>
                </a:solidFill>
              </a:rPr>
              <a:t>▸ Brain drain from rural areas</a:t>
            </a:r>
          </a:p>
        </p:txBody>
      </p:sp>
      <p:sp>
        <p:nvSpPr>
          <p:cNvPr id="11" name="Rectangle 10"/>
          <p:cNvSpPr/>
          <p:nvPr/>
        </p:nvSpPr>
        <p:spPr>
          <a:xfrm>
            <a:off x="8229600" y="1051560"/>
            <a:ext cx="3657600" cy="24231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124712"/>
            <a:ext cx="3383280" cy="384048"/>
          </a:xfrm>
          <a:prstGeom prst="rect">
            <a:avLst/>
          </a:prstGeom>
          <a:noFill/>
        </p:spPr>
        <p:txBody>
          <a:bodyPr wrap="square">
            <a:spAutoFit/>
          </a:bodyPr>
          <a:lstStyle/>
          <a:p>
            <a:pPr algn="l"/>
            <a:r>
              <a:rPr sz="1400" b="1" i="0">
                <a:solidFill>
                  <a:srgbClr val="1B5E20"/>
                </a:solidFill>
              </a:rPr>
              <a:t>Infrastructure</a:t>
            </a:r>
          </a:p>
        </p:txBody>
      </p:sp>
      <p:sp>
        <p:nvSpPr>
          <p:cNvPr id="13" name="TextBox 12"/>
          <p:cNvSpPr txBox="1"/>
          <p:nvPr/>
        </p:nvSpPr>
        <p:spPr>
          <a:xfrm>
            <a:off x="8321040" y="1554480"/>
            <a:ext cx="3474720" cy="1828800"/>
          </a:xfrm>
          <a:prstGeom prst="rect">
            <a:avLst/>
          </a:prstGeom>
          <a:noFill/>
        </p:spPr>
        <p:txBody>
          <a:bodyPr wrap="square">
            <a:spAutoFit/>
          </a:bodyPr>
          <a:lstStyle/>
          <a:p>
            <a:pPr>
              <a:spcBef>
                <a:spcPts val="400"/>
              </a:spcBef>
            </a:pPr>
            <a:r>
              <a:rPr sz="1200">
                <a:solidFill>
                  <a:srgbClr val="212121"/>
                </a:solidFill>
              </a:rPr>
              <a:t>▸ Poor rural roads and connectivity</a:t>
            </a:r>
          </a:p>
          <a:p>
            <a:pPr>
              <a:spcBef>
                <a:spcPts val="400"/>
              </a:spcBef>
            </a:pPr>
            <a:r>
              <a:rPr sz="1200">
                <a:solidFill>
                  <a:srgbClr val="212121"/>
                </a:solidFill>
              </a:rPr>
              <a:t>▸ Lack of electricity in remote areas</a:t>
            </a:r>
          </a:p>
          <a:p>
            <a:pPr>
              <a:spcBef>
                <a:spcPts val="400"/>
              </a:spcBef>
            </a:pPr>
            <a:r>
              <a:rPr sz="1200">
                <a:solidFill>
                  <a:srgbClr val="212121"/>
                </a:solidFill>
              </a:rPr>
              <a:t>▸ Inadequate cold-chain and storage</a:t>
            </a:r>
          </a:p>
          <a:p>
            <a:pPr>
              <a:spcBef>
                <a:spcPts val="400"/>
              </a:spcBef>
            </a:pPr>
            <a:r>
              <a:rPr sz="1200">
                <a:solidFill>
                  <a:srgbClr val="212121"/>
                </a:solidFill>
              </a:rPr>
              <a:t>▸ Unreliable water supply</a:t>
            </a:r>
          </a:p>
        </p:txBody>
      </p:sp>
      <p:sp>
        <p:nvSpPr>
          <p:cNvPr id="14" name="Rectangle 13"/>
          <p:cNvSpPr/>
          <p:nvPr/>
        </p:nvSpPr>
        <p:spPr>
          <a:xfrm>
            <a:off x="274320" y="3703320"/>
            <a:ext cx="3657600" cy="24231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776472"/>
            <a:ext cx="3383280" cy="384048"/>
          </a:xfrm>
          <a:prstGeom prst="rect">
            <a:avLst/>
          </a:prstGeom>
          <a:noFill/>
        </p:spPr>
        <p:txBody>
          <a:bodyPr wrap="square">
            <a:spAutoFit/>
          </a:bodyPr>
          <a:lstStyle/>
          <a:p>
            <a:pPr algn="l"/>
            <a:r>
              <a:rPr sz="1400" b="1" i="0">
                <a:solidFill>
                  <a:srgbClr val="1B5E20"/>
                </a:solidFill>
              </a:rPr>
              <a:t>Policy &amp; Governance</a:t>
            </a:r>
          </a:p>
        </p:txBody>
      </p:sp>
      <p:sp>
        <p:nvSpPr>
          <p:cNvPr id="16" name="TextBox 15"/>
          <p:cNvSpPr txBox="1"/>
          <p:nvPr/>
        </p:nvSpPr>
        <p:spPr>
          <a:xfrm>
            <a:off x="365760" y="4206240"/>
            <a:ext cx="3474720" cy="1828800"/>
          </a:xfrm>
          <a:prstGeom prst="rect">
            <a:avLst/>
          </a:prstGeom>
          <a:noFill/>
        </p:spPr>
        <p:txBody>
          <a:bodyPr wrap="square">
            <a:spAutoFit/>
          </a:bodyPr>
          <a:lstStyle/>
          <a:p>
            <a:pPr>
              <a:spcBef>
                <a:spcPts val="400"/>
              </a:spcBef>
            </a:pPr>
            <a:r>
              <a:rPr sz="1200">
                <a:solidFill>
                  <a:srgbClr val="212121"/>
                </a:solidFill>
              </a:rPr>
              <a:t>▸ Fragmented policy frameworks</a:t>
            </a:r>
          </a:p>
          <a:p>
            <a:pPr>
              <a:spcBef>
                <a:spcPts val="400"/>
              </a:spcBef>
            </a:pPr>
            <a:r>
              <a:rPr sz="1200">
                <a:solidFill>
                  <a:srgbClr val="212121"/>
                </a:solidFill>
              </a:rPr>
              <a:t>▸ Weak land tenure and property rights</a:t>
            </a:r>
          </a:p>
          <a:p>
            <a:pPr>
              <a:spcBef>
                <a:spcPts val="400"/>
              </a:spcBef>
            </a:pPr>
            <a:r>
              <a:rPr sz="1200">
                <a:solidFill>
                  <a:srgbClr val="212121"/>
                </a:solidFill>
              </a:rPr>
              <a:t>▸ Bureaucratic subsidy systems</a:t>
            </a:r>
          </a:p>
          <a:p>
            <a:pPr>
              <a:spcBef>
                <a:spcPts val="400"/>
              </a:spcBef>
            </a:pPr>
            <a:r>
              <a:rPr sz="1200">
                <a:solidFill>
                  <a:srgbClr val="212121"/>
                </a:solidFill>
              </a:rPr>
              <a:t>▸ Political short-termism (election cycles)</a:t>
            </a:r>
          </a:p>
        </p:txBody>
      </p:sp>
      <p:sp>
        <p:nvSpPr>
          <p:cNvPr id="17" name="Rectangle 16"/>
          <p:cNvSpPr/>
          <p:nvPr/>
        </p:nvSpPr>
        <p:spPr>
          <a:xfrm>
            <a:off x="4251960" y="3703320"/>
            <a:ext cx="3657600" cy="24231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3776472"/>
            <a:ext cx="3383280" cy="384048"/>
          </a:xfrm>
          <a:prstGeom prst="rect">
            <a:avLst/>
          </a:prstGeom>
          <a:noFill/>
        </p:spPr>
        <p:txBody>
          <a:bodyPr wrap="square">
            <a:spAutoFit/>
          </a:bodyPr>
          <a:lstStyle/>
          <a:p>
            <a:pPr algn="l"/>
            <a:r>
              <a:rPr sz="1400" b="1" i="0">
                <a:solidFill>
                  <a:srgbClr val="1B5E20"/>
                </a:solidFill>
              </a:rPr>
              <a:t>Social &amp; Cultural</a:t>
            </a:r>
          </a:p>
        </p:txBody>
      </p:sp>
      <p:sp>
        <p:nvSpPr>
          <p:cNvPr id="19" name="TextBox 18"/>
          <p:cNvSpPr txBox="1"/>
          <p:nvPr/>
        </p:nvSpPr>
        <p:spPr>
          <a:xfrm>
            <a:off x="4343400" y="4206240"/>
            <a:ext cx="3474720" cy="1828800"/>
          </a:xfrm>
          <a:prstGeom prst="rect">
            <a:avLst/>
          </a:prstGeom>
          <a:noFill/>
        </p:spPr>
        <p:txBody>
          <a:bodyPr wrap="square">
            <a:spAutoFit/>
          </a:bodyPr>
          <a:lstStyle/>
          <a:p>
            <a:pPr>
              <a:spcBef>
                <a:spcPts val="400"/>
              </a:spcBef>
            </a:pPr>
            <a:r>
              <a:rPr sz="1200">
                <a:solidFill>
                  <a:srgbClr val="212121"/>
                </a:solidFill>
              </a:rPr>
              <a:t>▸ Farmer risk-aversion to new methods</a:t>
            </a:r>
          </a:p>
          <a:p>
            <a:pPr>
              <a:spcBef>
                <a:spcPts val="400"/>
              </a:spcBef>
            </a:pPr>
            <a:r>
              <a:rPr sz="1200">
                <a:solidFill>
                  <a:srgbClr val="212121"/>
                </a:solidFill>
              </a:rPr>
              <a:t>▸ Gender barriers to technology access</a:t>
            </a:r>
          </a:p>
          <a:p>
            <a:pPr>
              <a:spcBef>
                <a:spcPts val="400"/>
              </a:spcBef>
            </a:pPr>
            <a:r>
              <a:rPr sz="1200">
                <a:solidFill>
                  <a:srgbClr val="212121"/>
                </a:solidFill>
              </a:rPr>
              <a:t>▸ Low trust in private-sector partners</a:t>
            </a:r>
          </a:p>
          <a:p>
            <a:pPr>
              <a:spcBef>
                <a:spcPts val="400"/>
              </a:spcBef>
            </a:pPr>
            <a:r>
              <a:rPr sz="1200">
                <a:solidFill>
                  <a:srgbClr val="212121"/>
                </a:solidFill>
              </a:rPr>
              <a:t>▸ Language and literacy barriers</a:t>
            </a:r>
          </a:p>
        </p:txBody>
      </p:sp>
      <p:sp>
        <p:nvSpPr>
          <p:cNvPr id="20" name="Rectangle 19"/>
          <p:cNvSpPr/>
          <p:nvPr/>
        </p:nvSpPr>
        <p:spPr>
          <a:xfrm>
            <a:off x="8229600" y="3703320"/>
            <a:ext cx="3657600" cy="24231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3776472"/>
            <a:ext cx="3383280" cy="384048"/>
          </a:xfrm>
          <a:prstGeom prst="rect">
            <a:avLst/>
          </a:prstGeom>
          <a:noFill/>
        </p:spPr>
        <p:txBody>
          <a:bodyPr wrap="square">
            <a:spAutoFit/>
          </a:bodyPr>
          <a:lstStyle/>
          <a:p>
            <a:pPr algn="l"/>
            <a:r>
              <a:rPr sz="1400" b="1" i="0">
                <a:solidFill>
                  <a:srgbClr val="1B5E20"/>
                </a:solidFill>
              </a:rPr>
              <a:t>Climate &amp; Environment</a:t>
            </a:r>
          </a:p>
        </p:txBody>
      </p:sp>
      <p:sp>
        <p:nvSpPr>
          <p:cNvPr id="22" name="TextBox 21"/>
          <p:cNvSpPr txBox="1"/>
          <p:nvPr/>
        </p:nvSpPr>
        <p:spPr>
          <a:xfrm>
            <a:off x="8321040" y="4206240"/>
            <a:ext cx="3474720" cy="1828800"/>
          </a:xfrm>
          <a:prstGeom prst="rect">
            <a:avLst/>
          </a:prstGeom>
          <a:noFill/>
        </p:spPr>
        <p:txBody>
          <a:bodyPr wrap="square">
            <a:spAutoFit/>
          </a:bodyPr>
          <a:lstStyle/>
          <a:p>
            <a:pPr>
              <a:spcBef>
                <a:spcPts val="400"/>
              </a:spcBef>
            </a:pPr>
            <a:r>
              <a:rPr sz="1200">
                <a:solidFill>
                  <a:srgbClr val="212121"/>
                </a:solidFill>
              </a:rPr>
              <a:t>▸ Increasing weather unpredictability</a:t>
            </a:r>
          </a:p>
          <a:p>
            <a:pPr>
              <a:spcBef>
                <a:spcPts val="400"/>
              </a:spcBef>
            </a:pPr>
            <a:r>
              <a:rPr sz="1200">
                <a:solidFill>
                  <a:srgbClr val="212121"/>
                </a:solidFill>
              </a:rPr>
              <a:t>▸ Pest/disease range expansion</a:t>
            </a:r>
          </a:p>
          <a:p>
            <a:pPr>
              <a:spcBef>
                <a:spcPts val="400"/>
              </a:spcBef>
            </a:pPr>
            <a:r>
              <a:rPr sz="1200">
                <a:solidFill>
                  <a:srgbClr val="212121"/>
                </a:solidFill>
              </a:rPr>
              <a:t>▸ Degraded natural resource base</a:t>
            </a:r>
          </a:p>
          <a:p>
            <a:pPr>
              <a:spcBef>
                <a:spcPts val="400"/>
              </a:spcBef>
            </a:pPr>
            <a:r>
              <a:rPr sz="1200">
                <a:solidFill>
                  <a:srgbClr val="212121"/>
                </a:solidFill>
              </a:rPr>
              <a:t>▸ Competing land use pressures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Solutions: Overcoming the Barriers</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Challenges &amp; Solutions</a:t>
            </a:r>
          </a:p>
        </p:txBody>
      </p:sp>
      <p:sp>
        <p:nvSpPr>
          <p:cNvPr id="5" name="Rectangle 4"/>
          <p:cNvSpPr/>
          <p:nvPr/>
        </p:nvSpPr>
        <p:spPr>
          <a:xfrm>
            <a:off x="320040" y="1097280"/>
            <a:ext cx="5669280" cy="1645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109728" cy="1645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70432"/>
            <a:ext cx="5349240" cy="411480"/>
          </a:xfrm>
          <a:prstGeom prst="rect">
            <a:avLst/>
          </a:prstGeom>
          <a:noFill/>
        </p:spPr>
        <p:txBody>
          <a:bodyPr wrap="square">
            <a:spAutoFit/>
          </a:bodyPr>
          <a:lstStyle/>
          <a:p>
            <a:pPr algn="l"/>
            <a:r>
              <a:rPr sz="1400" b="1" i="0">
                <a:solidFill>
                  <a:srgbClr val="1B5E20"/>
                </a:solidFill>
              </a:rPr>
              <a:t>Blended Finance &amp; De-risking</a:t>
            </a:r>
          </a:p>
        </p:txBody>
      </p:sp>
      <p:sp>
        <p:nvSpPr>
          <p:cNvPr id="8" name="TextBox 7"/>
          <p:cNvSpPr txBox="1"/>
          <p:nvPr/>
        </p:nvSpPr>
        <p:spPr>
          <a:xfrm>
            <a:off x="502920" y="1600200"/>
            <a:ext cx="5349240" cy="1051560"/>
          </a:xfrm>
          <a:prstGeom prst="rect">
            <a:avLst/>
          </a:prstGeom>
          <a:noFill/>
        </p:spPr>
        <p:txBody>
          <a:bodyPr wrap="square">
            <a:spAutoFit/>
          </a:bodyPr>
          <a:lstStyle/>
          <a:p>
            <a:pPr algn="l"/>
            <a:r>
              <a:rPr sz="1200" b="0" i="0">
                <a:solidFill>
                  <a:srgbClr val="212121"/>
                </a:solidFill>
              </a:rPr>
              <a:t>Partial guarantee funds reduce lender risk → lower interest. Climate bonds, green finance, and donor co-investment leverage domestic capital 5:1</a:t>
            </a:r>
          </a:p>
        </p:txBody>
      </p:sp>
      <p:sp>
        <p:nvSpPr>
          <p:cNvPr id="9" name="Rectangle 8"/>
          <p:cNvSpPr/>
          <p:nvPr/>
        </p:nvSpPr>
        <p:spPr>
          <a:xfrm>
            <a:off x="6309360" y="109728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097280"/>
            <a:ext cx="109728" cy="1645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170432"/>
            <a:ext cx="5349240" cy="411480"/>
          </a:xfrm>
          <a:prstGeom prst="rect">
            <a:avLst/>
          </a:prstGeom>
          <a:noFill/>
        </p:spPr>
        <p:txBody>
          <a:bodyPr wrap="square">
            <a:spAutoFit/>
          </a:bodyPr>
          <a:lstStyle/>
          <a:p>
            <a:pPr algn="l"/>
            <a:r>
              <a:rPr sz="1400" b="1" i="0">
                <a:solidFill>
                  <a:srgbClr val="1B5E20"/>
                </a:solidFill>
              </a:rPr>
              <a:t>Digital Extension at Scale</a:t>
            </a:r>
          </a:p>
        </p:txBody>
      </p:sp>
      <p:sp>
        <p:nvSpPr>
          <p:cNvPr id="12" name="TextBox 11"/>
          <p:cNvSpPr txBox="1"/>
          <p:nvPr/>
        </p:nvSpPr>
        <p:spPr>
          <a:xfrm>
            <a:off x="6492240" y="1600200"/>
            <a:ext cx="5349240" cy="1051560"/>
          </a:xfrm>
          <a:prstGeom prst="rect">
            <a:avLst/>
          </a:prstGeom>
          <a:noFill/>
        </p:spPr>
        <p:txBody>
          <a:bodyPr wrap="square">
            <a:spAutoFit/>
          </a:bodyPr>
          <a:lstStyle/>
          <a:p>
            <a:pPr algn="l"/>
            <a:r>
              <a:rPr sz="1200" b="0" i="0">
                <a:solidFill>
                  <a:srgbClr val="212121"/>
                </a:solidFill>
              </a:rPr>
              <a:t>Mobile video advisory, AI chatbots and WhatsApp farmer groups reach 10x more farmers per officer; lower cost per farmer contact by 80%</a:t>
            </a:r>
          </a:p>
        </p:txBody>
      </p:sp>
      <p:sp>
        <p:nvSpPr>
          <p:cNvPr id="13" name="Rectangle 12"/>
          <p:cNvSpPr/>
          <p:nvPr/>
        </p:nvSpPr>
        <p:spPr>
          <a:xfrm>
            <a:off x="320040" y="2834640"/>
            <a:ext cx="5669280" cy="1645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2834640"/>
            <a:ext cx="109728" cy="1645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907792"/>
            <a:ext cx="5349240" cy="411480"/>
          </a:xfrm>
          <a:prstGeom prst="rect">
            <a:avLst/>
          </a:prstGeom>
          <a:noFill/>
        </p:spPr>
        <p:txBody>
          <a:bodyPr wrap="square">
            <a:spAutoFit/>
          </a:bodyPr>
          <a:lstStyle/>
          <a:p>
            <a:pPr algn="l"/>
            <a:r>
              <a:rPr sz="1400" b="1" i="0">
                <a:solidFill>
                  <a:srgbClr val="1B5E20"/>
                </a:solidFill>
              </a:rPr>
              <a:t>Infrastructure Investment Prioritisation</a:t>
            </a:r>
          </a:p>
        </p:txBody>
      </p:sp>
      <p:sp>
        <p:nvSpPr>
          <p:cNvPr id="16" name="TextBox 15"/>
          <p:cNvSpPr txBox="1"/>
          <p:nvPr/>
        </p:nvSpPr>
        <p:spPr>
          <a:xfrm>
            <a:off x="502920" y="3337560"/>
            <a:ext cx="5349240" cy="1051560"/>
          </a:xfrm>
          <a:prstGeom prst="rect">
            <a:avLst/>
          </a:prstGeom>
          <a:noFill/>
        </p:spPr>
        <p:txBody>
          <a:bodyPr wrap="square">
            <a:spAutoFit/>
          </a:bodyPr>
          <a:lstStyle/>
          <a:p>
            <a:pPr algn="l"/>
            <a:r>
              <a:rPr sz="1200" b="0" i="0">
                <a:solidFill>
                  <a:srgbClr val="212121"/>
                </a:solidFill>
              </a:rPr>
              <a:t>Last-mile solar, rural roads, and shared cold-chain deliver highest returns. Public-private partnerships accelerate deployment with risk sharing</a:t>
            </a:r>
          </a:p>
        </p:txBody>
      </p:sp>
      <p:sp>
        <p:nvSpPr>
          <p:cNvPr id="17" name="Rectangle 16"/>
          <p:cNvSpPr/>
          <p:nvPr/>
        </p:nvSpPr>
        <p:spPr>
          <a:xfrm>
            <a:off x="6309360" y="283464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2834640"/>
            <a:ext cx="109728" cy="1645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907792"/>
            <a:ext cx="5349240" cy="411480"/>
          </a:xfrm>
          <a:prstGeom prst="rect">
            <a:avLst/>
          </a:prstGeom>
          <a:noFill/>
        </p:spPr>
        <p:txBody>
          <a:bodyPr wrap="square">
            <a:spAutoFit/>
          </a:bodyPr>
          <a:lstStyle/>
          <a:p>
            <a:pPr algn="l"/>
            <a:r>
              <a:rPr sz="1400" b="1" i="0">
                <a:solidFill>
                  <a:srgbClr val="1B5E20"/>
                </a:solidFill>
              </a:rPr>
              <a:t>Policy Reform &amp; Incentive Alignment</a:t>
            </a:r>
          </a:p>
        </p:txBody>
      </p:sp>
      <p:sp>
        <p:nvSpPr>
          <p:cNvPr id="20" name="TextBox 19"/>
          <p:cNvSpPr txBox="1"/>
          <p:nvPr/>
        </p:nvSpPr>
        <p:spPr>
          <a:xfrm>
            <a:off x="6492240" y="3337560"/>
            <a:ext cx="5349240" cy="1051560"/>
          </a:xfrm>
          <a:prstGeom prst="rect">
            <a:avLst/>
          </a:prstGeom>
          <a:noFill/>
        </p:spPr>
        <p:txBody>
          <a:bodyPr wrap="square">
            <a:spAutoFit/>
          </a:bodyPr>
          <a:lstStyle/>
          <a:p>
            <a:pPr algn="l"/>
            <a:r>
              <a:rPr sz="1200" b="0" i="0">
                <a:solidFill>
                  <a:srgbClr val="212121"/>
                </a:solidFill>
              </a:rPr>
              <a:t>Redirecting poorly-targeted subsidies to productive investment. Outcome-based contracts with quarterly dashboards create accountability</a:t>
            </a:r>
          </a:p>
        </p:txBody>
      </p:sp>
      <p:sp>
        <p:nvSpPr>
          <p:cNvPr id="21" name="Rectangle 20"/>
          <p:cNvSpPr/>
          <p:nvPr/>
        </p:nvSpPr>
        <p:spPr>
          <a:xfrm>
            <a:off x="320040" y="4572000"/>
            <a:ext cx="5669280" cy="1645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4572000"/>
            <a:ext cx="109728" cy="1645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645152"/>
            <a:ext cx="5349240" cy="411480"/>
          </a:xfrm>
          <a:prstGeom prst="rect">
            <a:avLst/>
          </a:prstGeom>
          <a:noFill/>
        </p:spPr>
        <p:txBody>
          <a:bodyPr wrap="square">
            <a:spAutoFit/>
          </a:bodyPr>
          <a:lstStyle/>
          <a:p>
            <a:pPr algn="l"/>
            <a:r>
              <a:rPr sz="1400" b="1" i="0">
                <a:solidFill>
                  <a:srgbClr val="1B5E20"/>
                </a:solidFill>
              </a:rPr>
              <a:t>Farmer Organisation &amp; Aggregation</a:t>
            </a:r>
          </a:p>
        </p:txBody>
      </p:sp>
      <p:sp>
        <p:nvSpPr>
          <p:cNvPr id="24" name="TextBox 23"/>
          <p:cNvSpPr txBox="1"/>
          <p:nvPr/>
        </p:nvSpPr>
        <p:spPr>
          <a:xfrm>
            <a:off x="502920" y="5074920"/>
            <a:ext cx="5349240" cy="1051560"/>
          </a:xfrm>
          <a:prstGeom prst="rect">
            <a:avLst/>
          </a:prstGeom>
          <a:noFill/>
        </p:spPr>
        <p:txBody>
          <a:bodyPr wrap="square">
            <a:spAutoFit/>
          </a:bodyPr>
          <a:lstStyle/>
          <a:p>
            <a:pPr algn="l"/>
            <a:r>
              <a:rPr sz="1200" b="0" i="0">
                <a:solidFill>
                  <a:srgbClr val="212121"/>
                </a:solidFill>
              </a:rPr>
              <a:t>Cooperatives and producer companies provide scale for collective bargaining, shared equipment, bulk input purchasing and collective market access</a:t>
            </a:r>
          </a:p>
        </p:txBody>
      </p:sp>
      <p:sp>
        <p:nvSpPr>
          <p:cNvPr id="25" name="Rectangle 24"/>
          <p:cNvSpPr/>
          <p:nvPr/>
        </p:nvSpPr>
        <p:spPr>
          <a:xfrm>
            <a:off x="6309360" y="457200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0" y="4572000"/>
            <a:ext cx="109728" cy="1645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4645152"/>
            <a:ext cx="5349240" cy="411480"/>
          </a:xfrm>
          <a:prstGeom prst="rect">
            <a:avLst/>
          </a:prstGeom>
          <a:noFill/>
        </p:spPr>
        <p:txBody>
          <a:bodyPr wrap="square">
            <a:spAutoFit/>
          </a:bodyPr>
          <a:lstStyle/>
          <a:p>
            <a:pPr algn="l"/>
            <a:r>
              <a:rPr sz="1400" b="1" i="0">
                <a:solidFill>
                  <a:srgbClr val="1B5E20"/>
                </a:solidFill>
              </a:rPr>
              <a:t>Inclusive Technology Design</a:t>
            </a:r>
          </a:p>
        </p:txBody>
      </p:sp>
      <p:sp>
        <p:nvSpPr>
          <p:cNvPr id="28" name="TextBox 27"/>
          <p:cNvSpPr txBox="1"/>
          <p:nvPr/>
        </p:nvSpPr>
        <p:spPr>
          <a:xfrm>
            <a:off x="6492240" y="5074920"/>
            <a:ext cx="5349240" cy="1051560"/>
          </a:xfrm>
          <a:prstGeom prst="rect">
            <a:avLst/>
          </a:prstGeom>
          <a:noFill/>
        </p:spPr>
        <p:txBody>
          <a:bodyPr wrap="square">
            <a:spAutoFit/>
          </a:bodyPr>
          <a:lstStyle/>
          <a:p>
            <a:pPr algn="l"/>
            <a:r>
              <a:rPr sz="1200" b="0" i="0">
                <a:solidFill>
                  <a:srgbClr val="212121"/>
                </a:solidFill>
              </a:rPr>
              <a:t>Voice-based, multilingual, low-bandwidth tools for low-literacy users. Gender-intentional design: access via women's groups, female field agents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Future Outlook: Emerging Trends</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Future Outlook</a:t>
            </a:r>
          </a:p>
        </p:txBody>
      </p:sp>
      <p:sp>
        <p:nvSpPr>
          <p:cNvPr id="5" name="Rectangle 4"/>
          <p:cNvSpPr/>
          <p:nvPr/>
        </p:nvSpPr>
        <p:spPr>
          <a:xfrm>
            <a:off x="320040" y="1097280"/>
            <a:ext cx="5669280" cy="1645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70432"/>
            <a:ext cx="5394960" cy="411480"/>
          </a:xfrm>
          <a:prstGeom prst="rect">
            <a:avLst/>
          </a:prstGeom>
          <a:noFill/>
        </p:spPr>
        <p:txBody>
          <a:bodyPr wrap="square">
            <a:spAutoFit/>
          </a:bodyPr>
          <a:lstStyle/>
          <a:p>
            <a:pPr algn="l"/>
            <a:r>
              <a:rPr sz="1400" b="1" i="0">
                <a:solidFill>
                  <a:srgbClr val="1B5E20"/>
                </a:solidFill>
              </a:rPr>
              <a:t>🤖  AI &amp; Generative AI</a:t>
            </a:r>
          </a:p>
        </p:txBody>
      </p:sp>
      <p:sp>
        <p:nvSpPr>
          <p:cNvPr id="7" name="TextBox 6"/>
          <p:cNvSpPr txBox="1"/>
          <p:nvPr/>
        </p:nvSpPr>
        <p:spPr>
          <a:xfrm>
            <a:off x="457200" y="1600200"/>
            <a:ext cx="5394960" cy="1051560"/>
          </a:xfrm>
          <a:prstGeom prst="rect">
            <a:avLst/>
          </a:prstGeom>
          <a:noFill/>
        </p:spPr>
        <p:txBody>
          <a:bodyPr wrap="square">
            <a:spAutoFit/>
          </a:bodyPr>
          <a:lstStyle/>
          <a:p>
            <a:pPr algn="l"/>
            <a:r>
              <a:rPr sz="1200" b="0" i="0">
                <a:solidFill>
                  <a:srgbClr val="212121"/>
                </a:solidFill>
              </a:rPr>
              <a:t>GPT-powered crop advisory, autonomous farm robots, AI-designed crop varieties customised for local microclimates — commercialising 2025–2027</a:t>
            </a:r>
          </a:p>
        </p:txBody>
      </p:sp>
      <p:sp>
        <p:nvSpPr>
          <p:cNvPr id="8" name="Rectangle 7"/>
          <p:cNvSpPr/>
          <p:nvPr/>
        </p:nvSpPr>
        <p:spPr>
          <a:xfrm>
            <a:off x="6309360" y="109728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170432"/>
            <a:ext cx="5394960" cy="411480"/>
          </a:xfrm>
          <a:prstGeom prst="rect">
            <a:avLst/>
          </a:prstGeom>
          <a:noFill/>
        </p:spPr>
        <p:txBody>
          <a:bodyPr wrap="square">
            <a:spAutoFit/>
          </a:bodyPr>
          <a:lstStyle/>
          <a:p>
            <a:pPr algn="l"/>
            <a:r>
              <a:rPr sz="1400" b="1" i="0">
                <a:solidFill>
                  <a:srgbClr val="1B5E20"/>
                </a:solidFill>
              </a:rPr>
              <a:t>🧬  Biotech &amp; Gene Editing</a:t>
            </a:r>
          </a:p>
        </p:txBody>
      </p:sp>
      <p:sp>
        <p:nvSpPr>
          <p:cNvPr id="10" name="TextBox 9"/>
          <p:cNvSpPr txBox="1"/>
          <p:nvPr/>
        </p:nvSpPr>
        <p:spPr>
          <a:xfrm>
            <a:off x="6446520" y="1600200"/>
            <a:ext cx="5394960" cy="1051560"/>
          </a:xfrm>
          <a:prstGeom prst="rect">
            <a:avLst/>
          </a:prstGeom>
          <a:noFill/>
        </p:spPr>
        <p:txBody>
          <a:bodyPr wrap="square">
            <a:spAutoFit/>
          </a:bodyPr>
          <a:lstStyle/>
          <a:p>
            <a:pPr algn="l"/>
            <a:r>
              <a:rPr sz="1200" b="0" i="0">
                <a:solidFill>
                  <a:srgbClr val="212121"/>
                </a:solidFill>
              </a:rPr>
              <a:t>CRISPR crops with drought tolerance, disease resistance and enhanced nutrition pipeline; 3–5x faster variety development than traditional breeding</a:t>
            </a:r>
          </a:p>
        </p:txBody>
      </p:sp>
      <p:sp>
        <p:nvSpPr>
          <p:cNvPr id="11" name="Rectangle 10"/>
          <p:cNvSpPr/>
          <p:nvPr/>
        </p:nvSpPr>
        <p:spPr>
          <a:xfrm>
            <a:off x="320040" y="283464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907792"/>
            <a:ext cx="5394960" cy="411480"/>
          </a:xfrm>
          <a:prstGeom prst="rect">
            <a:avLst/>
          </a:prstGeom>
          <a:noFill/>
        </p:spPr>
        <p:txBody>
          <a:bodyPr wrap="square">
            <a:spAutoFit/>
          </a:bodyPr>
          <a:lstStyle/>
          <a:p>
            <a:pPr algn="l"/>
            <a:r>
              <a:rPr sz="1400" b="1" i="0">
                <a:solidFill>
                  <a:srgbClr val="1B5E20"/>
                </a:solidFill>
              </a:rPr>
              <a:t>🌾  Vertical &amp; Controlled Environment</a:t>
            </a:r>
          </a:p>
        </p:txBody>
      </p:sp>
      <p:sp>
        <p:nvSpPr>
          <p:cNvPr id="13" name="TextBox 12"/>
          <p:cNvSpPr txBox="1"/>
          <p:nvPr/>
        </p:nvSpPr>
        <p:spPr>
          <a:xfrm>
            <a:off x="457200" y="3337560"/>
            <a:ext cx="5394960" cy="1051560"/>
          </a:xfrm>
          <a:prstGeom prst="rect">
            <a:avLst/>
          </a:prstGeom>
          <a:noFill/>
        </p:spPr>
        <p:txBody>
          <a:bodyPr wrap="square">
            <a:spAutoFit/>
          </a:bodyPr>
          <a:lstStyle/>
          <a:p>
            <a:pPr algn="l"/>
            <a:r>
              <a:rPr sz="1200" b="0" i="0">
                <a:solidFill>
                  <a:srgbClr val="212121"/>
                </a:solidFill>
              </a:rPr>
              <a:t>90% less water, zero pesticides, year-round production. Cost parity with field crops for leafy greens by 2027; protein crops by 2030</a:t>
            </a:r>
          </a:p>
        </p:txBody>
      </p:sp>
      <p:sp>
        <p:nvSpPr>
          <p:cNvPr id="14" name="Rectangle 13"/>
          <p:cNvSpPr/>
          <p:nvPr/>
        </p:nvSpPr>
        <p:spPr>
          <a:xfrm>
            <a:off x="6309360" y="2834640"/>
            <a:ext cx="5669280" cy="1645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907792"/>
            <a:ext cx="5394960" cy="411480"/>
          </a:xfrm>
          <a:prstGeom prst="rect">
            <a:avLst/>
          </a:prstGeom>
          <a:noFill/>
        </p:spPr>
        <p:txBody>
          <a:bodyPr wrap="square">
            <a:spAutoFit/>
          </a:bodyPr>
          <a:lstStyle/>
          <a:p>
            <a:pPr algn="l"/>
            <a:r>
              <a:rPr sz="1400" b="1" i="0">
                <a:solidFill>
                  <a:srgbClr val="1B5E20"/>
                </a:solidFill>
              </a:rPr>
              <a:t>🔗  Agri-Blockchain &amp; Tokenisation</a:t>
            </a:r>
          </a:p>
        </p:txBody>
      </p:sp>
      <p:sp>
        <p:nvSpPr>
          <p:cNvPr id="16" name="TextBox 15"/>
          <p:cNvSpPr txBox="1"/>
          <p:nvPr/>
        </p:nvSpPr>
        <p:spPr>
          <a:xfrm>
            <a:off x="6446520" y="3337560"/>
            <a:ext cx="5394960" cy="1051560"/>
          </a:xfrm>
          <a:prstGeom prst="rect">
            <a:avLst/>
          </a:prstGeom>
          <a:noFill/>
        </p:spPr>
        <p:txBody>
          <a:bodyPr wrap="square">
            <a:spAutoFit/>
          </a:bodyPr>
          <a:lstStyle/>
          <a:p>
            <a:pPr algn="l"/>
            <a:r>
              <a:rPr sz="1200" b="0" i="0">
                <a:solidFill>
                  <a:srgbClr val="212121"/>
                </a:solidFill>
              </a:rPr>
              <a:t>Carbon credit markets on-chain, tokenised land rights, DeFi agricultural lending reaching unbanked farmers — $2B market by 2026</a:t>
            </a:r>
          </a:p>
        </p:txBody>
      </p:sp>
      <p:sp>
        <p:nvSpPr>
          <p:cNvPr id="17" name="Rectangle 16"/>
          <p:cNvSpPr/>
          <p:nvPr/>
        </p:nvSpPr>
        <p:spPr>
          <a:xfrm>
            <a:off x="320040" y="4572000"/>
            <a:ext cx="5669280" cy="1645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645152"/>
            <a:ext cx="5394960" cy="411480"/>
          </a:xfrm>
          <a:prstGeom prst="rect">
            <a:avLst/>
          </a:prstGeom>
          <a:noFill/>
        </p:spPr>
        <p:txBody>
          <a:bodyPr wrap="square">
            <a:spAutoFit/>
          </a:bodyPr>
          <a:lstStyle/>
          <a:p>
            <a:pPr algn="l"/>
            <a:r>
              <a:rPr sz="1400" b="1" i="0">
                <a:solidFill>
                  <a:srgbClr val="1B5E20"/>
                </a:solidFill>
              </a:rPr>
              <a:t>🦠  Microbiome &amp; Biostimulants</a:t>
            </a:r>
          </a:p>
        </p:txBody>
      </p:sp>
      <p:sp>
        <p:nvSpPr>
          <p:cNvPr id="19" name="TextBox 18"/>
          <p:cNvSpPr txBox="1"/>
          <p:nvPr/>
        </p:nvSpPr>
        <p:spPr>
          <a:xfrm>
            <a:off x="457200" y="5074920"/>
            <a:ext cx="5394960" cy="1051560"/>
          </a:xfrm>
          <a:prstGeom prst="rect">
            <a:avLst/>
          </a:prstGeom>
          <a:noFill/>
        </p:spPr>
        <p:txBody>
          <a:bodyPr wrap="square">
            <a:spAutoFit/>
          </a:bodyPr>
          <a:lstStyle/>
          <a:p>
            <a:pPr algn="l"/>
            <a:r>
              <a:rPr sz="1200" b="0" i="0">
                <a:solidFill>
                  <a:srgbClr val="212121"/>
                </a:solidFill>
              </a:rPr>
              <a:t>Precision soil biology interventions replacing synthetic fertilisers, with equivalent yield at 30–50% lower cost; market $18B by 2028</a:t>
            </a:r>
          </a:p>
        </p:txBody>
      </p:sp>
      <p:sp>
        <p:nvSpPr>
          <p:cNvPr id="20" name="Rectangle 19"/>
          <p:cNvSpPr/>
          <p:nvPr/>
        </p:nvSpPr>
        <p:spPr>
          <a:xfrm>
            <a:off x="6309360" y="4572000"/>
            <a:ext cx="566928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645152"/>
            <a:ext cx="5394960" cy="411480"/>
          </a:xfrm>
          <a:prstGeom prst="rect">
            <a:avLst/>
          </a:prstGeom>
          <a:noFill/>
        </p:spPr>
        <p:txBody>
          <a:bodyPr wrap="square">
            <a:spAutoFit/>
          </a:bodyPr>
          <a:lstStyle/>
          <a:p>
            <a:pPr algn="l"/>
            <a:r>
              <a:rPr sz="1400" b="1" i="0">
                <a:solidFill>
                  <a:srgbClr val="1B5E20"/>
                </a:solidFill>
              </a:rPr>
              <a:t>🛰️  Space-based Agriculture</a:t>
            </a:r>
          </a:p>
        </p:txBody>
      </p:sp>
      <p:sp>
        <p:nvSpPr>
          <p:cNvPr id="22" name="TextBox 21"/>
          <p:cNvSpPr txBox="1"/>
          <p:nvPr/>
        </p:nvSpPr>
        <p:spPr>
          <a:xfrm>
            <a:off x="6446520" y="5074920"/>
            <a:ext cx="5394960" cy="1051560"/>
          </a:xfrm>
          <a:prstGeom prst="rect">
            <a:avLst/>
          </a:prstGeom>
          <a:noFill/>
        </p:spPr>
        <p:txBody>
          <a:bodyPr wrap="square">
            <a:spAutoFit/>
          </a:bodyPr>
          <a:lstStyle/>
          <a:p>
            <a:pPr algn="l"/>
            <a:r>
              <a:rPr sz="1200" b="0" i="0">
                <a:solidFill>
                  <a:srgbClr val="212121"/>
                </a:solidFill>
              </a:rPr>
              <a:t>Hyperspectral satellites with 3-metre resolution, daily crop monitoring at $0.001/ha; combined with AI models for sub-field management recommendations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5EB"/>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685800"/>
          </a:xfrm>
          <a:prstGeom prst="rect">
            <a:avLst/>
          </a:prstGeom>
          <a:noFill/>
        </p:spPr>
        <p:txBody>
          <a:bodyPr wrap="square">
            <a:spAutoFit/>
          </a:bodyPr>
          <a:lstStyle/>
          <a:p>
            <a:pPr algn="l"/>
            <a:r>
              <a:rPr sz="3000" b="1" i="0">
                <a:solidFill>
                  <a:srgbClr val="FFFFFF"/>
                </a:solidFill>
              </a:rPr>
              <a:t>Opportunities Ahead: The Next Decade</a:t>
            </a:r>
          </a:p>
        </p:txBody>
      </p:sp>
      <p:sp>
        <p:nvSpPr>
          <p:cNvPr id="4" name="TextBox 3"/>
          <p:cNvSpPr txBox="1"/>
          <p:nvPr/>
        </p:nvSpPr>
        <p:spPr>
          <a:xfrm>
            <a:off x="10424160" y="228600"/>
            <a:ext cx="1645920" cy="457200"/>
          </a:xfrm>
          <a:prstGeom prst="rect">
            <a:avLst/>
          </a:prstGeom>
          <a:noFill/>
        </p:spPr>
        <p:txBody>
          <a:bodyPr wrap="square">
            <a:spAutoFit/>
          </a:bodyPr>
          <a:lstStyle/>
          <a:p>
            <a:pPr algn="r"/>
            <a:r>
              <a:rPr sz="1100" b="0" i="0">
                <a:solidFill>
                  <a:srgbClr val="E6A23C"/>
                </a:solidFill>
              </a:rPr>
              <a:t>Future Outlook</a:t>
            </a:r>
          </a:p>
        </p:txBody>
      </p:sp>
      <p:sp>
        <p:nvSpPr>
          <p:cNvPr id="5" name="TextBox 4"/>
          <p:cNvSpPr txBox="1"/>
          <p:nvPr/>
        </p:nvSpPr>
        <p:spPr>
          <a:xfrm>
            <a:off x="365760" y="1051560"/>
            <a:ext cx="11430000" cy="457200"/>
          </a:xfrm>
          <a:prstGeom prst="rect">
            <a:avLst/>
          </a:prstGeom>
          <a:noFill/>
        </p:spPr>
        <p:txBody>
          <a:bodyPr wrap="square">
            <a:spAutoFit/>
          </a:bodyPr>
          <a:lstStyle/>
          <a:p>
            <a:pPr algn="l"/>
            <a:r>
              <a:rPr sz="1600" b="0" i="1">
                <a:solidFill>
                  <a:srgbClr val="5D4037"/>
                </a:solidFill>
              </a:rPr>
              <a:t>Strategic windows of opportunity for governments, investors, and farmers</a:t>
            </a:r>
          </a:p>
        </p:txBody>
      </p:sp>
      <p:sp>
        <p:nvSpPr>
          <p:cNvPr id="6" name="Rectangle 5"/>
          <p:cNvSpPr/>
          <p:nvPr/>
        </p:nvSpPr>
        <p:spPr>
          <a:xfrm>
            <a:off x="320040" y="1600200"/>
            <a:ext cx="109728" cy="150876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 y="1600200"/>
            <a:ext cx="5559552" cy="1508760"/>
          </a:xfrm>
          <a:prstGeom prst="rect">
            <a:avLst/>
          </a:prstGeom>
          <a:solidFill>
            <a:srgbClr val="FA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73352"/>
            <a:ext cx="5303520" cy="411480"/>
          </a:xfrm>
          <a:prstGeom prst="rect">
            <a:avLst/>
          </a:prstGeom>
          <a:noFill/>
        </p:spPr>
        <p:txBody>
          <a:bodyPr wrap="square">
            <a:spAutoFit/>
          </a:bodyPr>
          <a:lstStyle/>
          <a:p>
            <a:pPr algn="l"/>
            <a:r>
              <a:rPr sz="1400" b="1" i="0">
                <a:solidFill>
                  <a:srgbClr val="1B5E20"/>
                </a:solidFill>
              </a:rPr>
              <a:t>Market Growth</a:t>
            </a:r>
          </a:p>
        </p:txBody>
      </p:sp>
      <p:sp>
        <p:nvSpPr>
          <p:cNvPr id="9" name="TextBox 8"/>
          <p:cNvSpPr txBox="1"/>
          <p:nvPr/>
        </p:nvSpPr>
        <p:spPr>
          <a:xfrm>
            <a:off x="548640" y="2103120"/>
            <a:ext cx="5303520" cy="914400"/>
          </a:xfrm>
          <a:prstGeom prst="rect">
            <a:avLst/>
          </a:prstGeom>
          <a:noFill/>
        </p:spPr>
        <p:txBody>
          <a:bodyPr wrap="square">
            <a:spAutoFit/>
          </a:bodyPr>
          <a:lstStyle/>
          <a:p>
            <a:pPr algn="l"/>
            <a:r>
              <a:rPr sz="1200" b="0" i="0">
                <a:solidFill>
                  <a:srgbClr val="212121"/>
                </a:solidFill>
              </a:rPr>
              <a:t>$8.4 trillion global food market by 2030 — organic, premium, and functional food segments growing 2–3x faster than conventional</a:t>
            </a:r>
          </a:p>
        </p:txBody>
      </p:sp>
      <p:sp>
        <p:nvSpPr>
          <p:cNvPr id="10" name="Rectangle 9"/>
          <p:cNvSpPr/>
          <p:nvPr/>
        </p:nvSpPr>
        <p:spPr>
          <a:xfrm>
            <a:off x="6309360" y="1600200"/>
            <a:ext cx="109728" cy="150876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19088" y="1600200"/>
            <a:ext cx="5559552" cy="1508760"/>
          </a:xfrm>
          <a:prstGeom prst="rect">
            <a:avLst/>
          </a:prstGeom>
          <a:solidFill>
            <a:srgbClr val="FA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673352"/>
            <a:ext cx="5303520" cy="411480"/>
          </a:xfrm>
          <a:prstGeom prst="rect">
            <a:avLst/>
          </a:prstGeom>
          <a:noFill/>
        </p:spPr>
        <p:txBody>
          <a:bodyPr wrap="square">
            <a:spAutoFit/>
          </a:bodyPr>
          <a:lstStyle/>
          <a:p>
            <a:pPr algn="l"/>
            <a:r>
              <a:rPr sz="1400" b="1" i="0">
                <a:solidFill>
                  <a:srgbClr val="1B5E20"/>
                </a:solidFill>
              </a:rPr>
              <a:t>Climate Finance</a:t>
            </a:r>
          </a:p>
        </p:txBody>
      </p:sp>
      <p:sp>
        <p:nvSpPr>
          <p:cNvPr id="13" name="TextBox 12"/>
          <p:cNvSpPr txBox="1"/>
          <p:nvPr/>
        </p:nvSpPr>
        <p:spPr>
          <a:xfrm>
            <a:off x="6537960" y="2103120"/>
            <a:ext cx="5303520" cy="914400"/>
          </a:xfrm>
          <a:prstGeom prst="rect">
            <a:avLst/>
          </a:prstGeom>
          <a:noFill/>
        </p:spPr>
        <p:txBody>
          <a:bodyPr wrap="square">
            <a:spAutoFit/>
          </a:bodyPr>
          <a:lstStyle/>
          <a:p>
            <a:pPr algn="l"/>
            <a:r>
              <a:rPr sz="1200" b="0" i="0">
                <a:solidFill>
                  <a:srgbClr val="212121"/>
                </a:solidFill>
              </a:rPr>
              <a:t>$100+ billion/year climate finance available; agriculture increasingly eligible through carbon markets, REDD+, and green bonds</a:t>
            </a:r>
          </a:p>
        </p:txBody>
      </p:sp>
      <p:sp>
        <p:nvSpPr>
          <p:cNvPr id="14" name="Rectangle 13"/>
          <p:cNvSpPr/>
          <p:nvPr/>
        </p:nvSpPr>
        <p:spPr>
          <a:xfrm>
            <a:off x="320040" y="3200400"/>
            <a:ext cx="109728" cy="150876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 y="3200400"/>
            <a:ext cx="5559552" cy="1508760"/>
          </a:xfrm>
          <a:prstGeom prst="rect">
            <a:avLst/>
          </a:prstGeom>
          <a:solidFill>
            <a:srgbClr val="FA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273552"/>
            <a:ext cx="5303520" cy="411480"/>
          </a:xfrm>
          <a:prstGeom prst="rect">
            <a:avLst/>
          </a:prstGeom>
          <a:noFill/>
        </p:spPr>
        <p:txBody>
          <a:bodyPr wrap="square">
            <a:spAutoFit/>
          </a:bodyPr>
          <a:lstStyle/>
          <a:p>
            <a:pPr algn="l"/>
            <a:r>
              <a:rPr sz="1400" b="1" i="0">
                <a:solidFill>
                  <a:srgbClr val="1B5E20"/>
                </a:solidFill>
              </a:rPr>
              <a:t>Youth &amp; Jobs</a:t>
            </a:r>
          </a:p>
        </p:txBody>
      </p:sp>
      <p:sp>
        <p:nvSpPr>
          <p:cNvPr id="17" name="TextBox 16"/>
          <p:cNvSpPr txBox="1"/>
          <p:nvPr/>
        </p:nvSpPr>
        <p:spPr>
          <a:xfrm>
            <a:off x="548640" y="3703320"/>
            <a:ext cx="5303520" cy="914400"/>
          </a:xfrm>
          <a:prstGeom prst="rect">
            <a:avLst/>
          </a:prstGeom>
          <a:noFill/>
        </p:spPr>
        <p:txBody>
          <a:bodyPr wrap="square">
            <a:spAutoFit/>
          </a:bodyPr>
          <a:lstStyle/>
          <a:p>
            <a:pPr algn="l"/>
            <a:r>
              <a:rPr sz="1200" b="0" i="0">
                <a:solidFill>
                  <a:srgbClr val="212121"/>
                </a:solidFill>
              </a:rPr>
              <a:t>600 million new jobs needed by 2030 — agri-tech, food processing, and cold-chain logistics offer high-quality rural employment</a:t>
            </a:r>
          </a:p>
        </p:txBody>
      </p:sp>
      <p:sp>
        <p:nvSpPr>
          <p:cNvPr id="18" name="Rectangle 17"/>
          <p:cNvSpPr/>
          <p:nvPr/>
        </p:nvSpPr>
        <p:spPr>
          <a:xfrm>
            <a:off x="6309360" y="3200400"/>
            <a:ext cx="109728" cy="150876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19088" y="3200400"/>
            <a:ext cx="5559552" cy="1508760"/>
          </a:xfrm>
          <a:prstGeom prst="rect">
            <a:avLst/>
          </a:prstGeom>
          <a:solidFill>
            <a:srgbClr val="FA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273552"/>
            <a:ext cx="5303520" cy="411480"/>
          </a:xfrm>
          <a:prstGeom prst="rect">
            <a:avLst/>
          </a:prstGeom>
          <a:noFill/>
        </p:spPr>
        <p:txBody>
          <a:bodyPr wrap="square">
            <a:spAutoFit/>
          </a:bodyPr>
          <a:lstStyle/>
          <a:p>
            <a:pPr algn="l"/>
            <a:r>
              <a:rPr sz="1400" b="1" i="0">
                <a:solidFill>
                  <a:srgbClr val="1B5E20"/>
                </a:solidFill>
              </a:rPr>
              <a:t>Genomic Revolution</a:t>
            </a:r>
          </a:p>
        </p:txBody>
      </p:sp>
      <p:sp>
        <p:nvSpPr>
          <p:cNvPr id="21" name="TextBox 20"/>
          <p:cNvSpPr txBox="1"/>
          <p:nvPr/>
        </p:nvSpPr>
        <p:spPr>
          <a:xfrm>
            <a:off x="6537960" y="3703320"/>
            <a:ext cx="5303520" cy="914400"/>
          </a:xfrm>
          <a:prstGeom prst="rect">
            <a:avLst/>
          </a:prstGeom>
          <a:noFill/>
        </p:spPr>
        <p:txBody>
          <a:bodyPr wrap="square">
            <a:spAutoFit/>
          </a:bodyPr>
          <a:lstStyle/>
          <a:p>
            <a:pPr algn="l"/>
            <a:r>
              <a:rPr sz="1200" b="0" i="0">
                <a:solidFill>
                  <a:srgbClr val="212121"/>
                </a:solidFill>
              </a:rPr>
              <a:t>10,000+ new crop varieties in development pipelines; gene-edited varieties will reach farmers 5–10x faster than previously possible</a:t>
            </a:r>
          </a:p>
        </p:txBody>
      </p:sp>
      <p:sp>
        <p:nvSpPr>
          <p:cNvPr id="22" name="Rectangle 21"/>
          <p:cNvSpPr/>
          <p:nvPr/>
        </p:nvSpPr>
        <p:spPr>
          <a:xfrm>
            <a:off x="320040" y="4800600"/>
            <a:ext cx="109728" cy="150876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 y="4800600"/>
            <a:ext cx="5559552" cy="1508760"/>
          </a:xfrm>
          <a:prstGeom prst="rect">
            <a:avLst/>
          </a:prstGeom>
          <a:solidFill>
            <a:srgbClr val="FA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873752"/>
            <a:ext cx="5303520" cy="411480"/>
          </a:xfrm>
          <a:prstGeom prst="rect">
            <a:avLst/>
          </a:prstGeom>
          <a:noFill/>
        </p:spPr>
        <p:txBody>
          <a:bodyPr wrap="square">
            <a:spAutoFit/>
          </a:bodyPr>
          <a:lstStyle/>
          <a:p>
            <a:pPr algn="l"/>
            <a:r>
              <a:rPr sz="1400" b="1" i="0">
                <a:solidFill>
                  <a:srgbClr val="1B5E20"/>
                </a:solidFill>
              </a:rPr>
              <a:t>Data Economy</a:t>
            </a:r>
          </a:p>
        </p:txBody>
      </p:sp>
      <p:sp>
        <p:nvSpPr>
          <p:cNvPr id="25" name="TextBox 24"/>
          <p:cNvSpPr txBox="1"/>
          <p:nvPr/>
        </p:nvSpPr>
        <p:spPr>
          <a:xfrm>
            <a:off x="548640" y="5303520"/>
            <a:ext cx="5303520" cy="914400"/>
          </a:xfrm>
          <a:prstGeom prst="rect">
            <a:avLst/>
          </a:prstGeom>
          <a:noFill/>
        </p:spPr>
        <p:txBody>
          <a:bodyPr wrap="square">
            <a:spAutoFit/>
          </a:bodyPr>
          <a:lstStyle/>
          <a:p>
            <a:pPr algn="l"/>
            <a:r>
              <a:rPr sz="1200" b="0" i="0">
                <a:solidFill>
                  <a:srgbClr val="212121"/>
                </a:solidFill>
              </a:rPr>
              <a:t>Agricultural data is the new oil — satellite, weather, soil, and market data services growing to $7B market; farmers can monetise their own data</a:t>
            </a:r>
          </a:p>
        </p:txBody>
      </p:sp>
      <p:sp>
        <p:nvSpPr>
          <p:cNvPr id="26" name="Rectangle 25"/>
          <p:cNvSpPr/>
          <p:nvPr/>
        </p:nvSpPr>
        <p:spPr>
          <a:xfrm>
            <a:off x="6309360" y="4800600"/>
            <a:ext cx="109728" cy="1508760"/>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19088" y="4800600"/>
            <a:ext cx="5559552" cy="1508760"/>
          </a:xfrm>
          <a:prstGeom prst="rect">
            <a:avLst/>
          </a:prstGeom>
          <a:solidFill>
            <a:srgbClr val="FAF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873752"/>
            <a:ext cx="5303520" cy="411480"/>
          </a:xfrm>
          <a:prstGeom prst="rect">
            <a:avLst/>
          </a:prstGeom>
          <a:noFill/>
        </p:spPr>
        <p:txBody>
          <a:bodyPr wrap="square">
            <a:spAutoFit/>
          </a:bodyPr>
          <a:lstStyle/>
          <a:p>
            <a:pPr algn="l"/>
            <a:r>
              <a:rPr sz="1400" b="1" i="0">
                <a:solidFill>
                  <a:srgbClr val="1B5E20"/>
                </a:solidFill>
              </a:rPr>
              <a:t>South-South Learning</a:t>
            </a:r>
          </a:p>
        </p:txBody>
      </p:sp>
      <p:sp>
        <p:nvSpPr>
          <p:cNvPr id="29" name="TextBox 28"/>
          <p:cNvSpPr txBox="1"/>
          <p:nvPr/>
        </p:nvSpPr>
        <p:spPr>
          <a:xfrm>
            <a:off x="6537960" y="5303520"/>
            <a:ext cx="5303520" cy="914400"/>
          </a:xfrm>
          <a:prstGeom prst="rect">
            <a:avLst/>
          </a:prstGeom>
          <a:noFill/>
        </p:spPr>
        <p:txBody>
          <a:bodyPr wrap="square">
            <a:spAutoFit/>
          </a:bodyPr>
          <a:lstStyle/>
          <a:p>
            <a:pPr algn="l"/>
            <a:r>
              <a:rPr sz="1200" b="0" i="0">
                <a:solidFill>
                  <a:srgbClr val="212121"/>
                </a:solidFill>
              </a:rPr>
              <a:t>Countries like Brazil, India, Ethiopia now exporting transformation expertise; peer learning networks reducing costs and accelerating adoption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Rectangle 1"/>
          <p:cNvSpPr/>
          <p:nvPr/>
        </p:nvSpPr>
        <p:spPr>
          <a:xfrm>
            <a:off x="0" y="6217920"/>
            <a:ext cx="12188952" cy="6400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035040"/>
            <a:ext cx="12188952" cy="109728"/>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731520"/>
          </a:xfrm>
          <a:prstGeom prst="rect">
            <a:avLst/>
          </a:prstGeom>
          <a:noFill/>
        </p:spPr>
        <p:txBody>
          <a:bodyPr wrap="square">
            <a:spAutoFit/>
          </a:bodyPr>
          <a:lstStyle/>
          <a:p>
            <a:pPr algn="ctr"/>
            <a:r>
              <a:rPr sz="3600" b="1" i="0">
                <a:solidFill>
                  <a:srgbClr val="FFFFFF"/>
                </a:solidFill>
              </a:rPr>
              <a:t>Call to Action: Your Next Steps</a:t>
            </a:r>
          </a:p>
        </p:txBody>
      </p:sp>
      <p:sp>
        <p:nvSpPr>
          <p:cNvPr id="5" name="TextBox 4"/>
          <p:cNvSpPr txBox="1"/>
          <p:nvPr/>
        </p:nvSpPr>
        <p:spPr>
          <a:xfrm>
            <a:off x="457200" y="1005840"/>
            <a:ext cx="11247120" cy="457200"/>
          </a:xfrm>
          <a:prstGeom prst="rect">
            <a:avLst/>
          </a:prstGeom>
          <a:noFill/>
        </p:spPr>
        <p:txBody>
          <a:bodyPr wrap="square">
            <a:spAutoFit/>
          </a:bodyPr>
          <a:lstStyle/>
          <a:p>
            <a:pPr algn="ctr"/>
            <a:r>
              <a:rPr sz="1600" b="0" i="1">
                <a:solidFill>
                  <a:srgbClr val="E6A23C"/>
                </a:solidFill>
              </a:rPr>
              <a:t>Transformation begins with a decision. Here is what each stakeholder can do TODAY:</a:t>
            </a:r>
          </a:p>
        </p:txBody>
      </p:sp>
      <p:sp>
        <p:nvSpPr>
          <p:cNvPr id="6" name="Rectangle 5"/>
          <p:cNvSpPr/>
          <p:nvPr/>
        </p:nvSpPr>
        <p:spPr>
          <a:xfrm>
            <a:off x="365760" y="1600200"/>
            <a:ext cx="5486400" cy="2103120"/>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73352"/>
            <a:ext cx="5212080" cy="411480"/>
          </a:xfrm>
          <a:prstGeom prst="rect">
            <a:avLst/>
          </a:prstGeom>
          <a:noFill/>
        </p:spPr>
        <p:txBody>
          <a:bodyPr wrap="square">
            <a:spAutoFit/>
          </a:bodyPr>
          <a:lstStyle/>
          <a:p>
            <a:pPr algn="l"/>
            <a:r>
              <a:rPr sz="1400" b="1" i="0">
                <a:solidFill>
                  <a:srgbClr val="E6A23C"/>
                </a:solidFill>
              </a:rPr>
              <a:t>🏛  GOVERNMENTS</a:t>
            </a:r>
          </a:p>
        </p:txBody>
      </p:sp>
      <p:sp>
        <p:nvSpPr>
          <p:cNvPr id="8" name="TextBox 7"/>
          <p:cNvSpPr txBox="1"/>
          <p:nvPr/>
        </p:nvSpPr>
        <p:spPr>
          <a:xfrm>
            <a:off x="457200" y="2103120"/>
            <a:ext cx="5303520" cy="1508760"/>
          </a:xfrm>
          <a:prstGeom prst="rect">
            <a:avLst/>
          </a:prstGeom>
          <a:noFill/>
        </p:spPr>
        <p:txBody>
          <a:bodyPr wrap="square">
            <a:spAutoFit/>
          </a:bodyPr>
          <a:lstStyle/>
          <a:p>
            <a:pPr>
              <a:spcBef>
                <a:spcPts val="400"/>
              </a:spcBef>
            </a:pPr>
            <a:r>
              <a:rPr sz="1100">
                <a:solidFill>
                  <a:srgbClr val="FFFFFF"/>
                </a:solidFill>
              </a:rPr>
              <a:t>• Commit to a national agricultural transformation strategy with clear 2030 targets</a:t>
            </a:r>
          </a:p>
          <a:p>
            <a:pPr>
              <a:spcBef>
                <a:spcPts val="400"/>
              </a:spcBef>
            </a:pPr>
            <a:r>
              <a:rPr sz="1100">
                <a:solidFill>
                  <a:srgbClr val="FFFFFF"/>
                </a:solidFill>
              </a:rPr>
              <a:t>• Redirect 30% of input subsidies to productive infrastructure investment</a:t>
            </a:r>
          </a:p>
          <a:p>
            <a:pPr>
              <a:spcBef>
                <a:spcPts val="400"/>
              </a:spcBef>
            </a:pPr>
            <a:r>
              <a:rPr sz="1100">
                <a:solidFill>
                  <a:srgbClr val="FFFFFF"/>
                </a:solidFill>
              </a:rPr>
              <a:t>• Establish a dedicated Agri-Tech regulatory sandbox for rapid innovation testing</a:t>
            </a:r>
          </a:p>
          <a:p>
            <a:pPr>
              <a:spcBef>
                <a:spcPts val="400"/>
              </a:spcBef>
            </a:pPr>
            <a:r>
              <a:rPr sz="1100">
                <a:solidFill>
                  <a:srgbClr val="FFFFFF"/>
                </a:solidFill>
              </a:rPr>
              <a:t>• Pass digital land rights legislation to unlock smallholder collateral</a:t>
            </a:r>
          </a:p>
        </p:txBody>
      </p:sp>
      <p:sp>
        <p:nvSpPr>
          <p:cNvPr id="9" name="Rectangle 8"/>
          <p:cNvSpPr/>
          <p:nvPr/>
        </p:nvSpPr>
        <p:spPr>
          <a:xfrm>
            <a:off x="6309360" y="1600200"/>
            <a:ext cx="5486400" cy="2103120"/>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73352"/>
            <a:ext cx="5212080" cy="411480"/>
          </a:xfrm>
          <a:prstGeom prst="rect">
            <a:avLst/>
          </a:prstGeom>
          <a:noFill/>
        </p:spPr>
        <p:txBody>
          <a:bodyPr wrap="square">
            <a:spAutoFit/>
          </a:bodyPr>
          <a:lstStyle/>
          <a:p>
            <a:pPr algn="l"/>
            <a:r>
              <a:rPr sz="1400" b="1" i="0">
                <a:solidFill>
                  <a:srgbClr val="E6A23C"/>
                </a:solidFill>
              </a:rPr>
              <a:t>🏢  PRIVATE SECTOR</a:t>
            </a:r>
          </a:p>
        </p:txBody>
      </p:sp>
      <p:sp>
        <p:nvSpPr>
          <p:cNvPr id="11" name="TextBox 10"/>
          <p:cNvSpPr txBox="1"/>
          <p:nvPr/>
        </p:nvSpPr>
        <p:spPr>
          <a:xfrm>
            <a:off x="6400800" y="2103120"/>
            <a:ext cx="5303520" cy="1508760"/>
          </a:xfrm>
          <a:prstGeom prst="rect">
            <a:avLst/>
          </a:prstGeom>
          <a:noFill/>
        </p:spPr>
        <p:txBody>
          <a:bodyPr wrap="square">
            <a:spAutoFit/>
          </a:bodyPr>
          <a:lstStyle/>
          <a:p>
            <a:pPr>
              <a:spcBef>
                <a:spcPts val="400"/>
              </a:spcBef>
            </a:pPr>
            <a:r>
              <a:rPr sz="1100">
                <a:solidFill>
                  <a:srgbClr val="FFFFFF"/>
                </a:solidFill>
              </a:rPr>
              <a:t>• Scale proven agri-tech solutions in underserved markets</a:t>
            </a:r>
          </a:p>
          <a:p>
            <a:pPr>
              <a:spcBef>
                <a:spcPts val="400"/>
              </a:spcBef>
            </a:pPr>
            <a:r>
              <a:rPr sz="1100">
                <a:solidFill>
                  <a:srgbClr val="FFFFFF"/>
                </a:solidFill>
              </a:rPr>
              <a:t>• Adopt supply-chain transparency and pay a sustainability premium to farmers</a:t>
            </a:r>
          </a:p>
          <a:p>
            <a:pPr>
              <a:spcBef>
                <a:spcPts val="400"/>
              </a:spcBef>
            </a:pPr>
            <a:r>
              <a:rPr sz="1100">
                <a:solidFill>
                  <a:srgbClr val="FFFFFF"/>
                </a:solidFill>
              </a:rPr>
              <a:t>• Partner with development finance for blended-finance rural credit products</a:t>
            </a:r>
          </a:p>
          <a:p>
            <a:pPr>
              <a:spcBef>
                <a:spcPts val="400"/>
              </a:spcBef>
            </a:pPr>
            <a:r>
              <a:rPr sz="1100">
                <a:solidFill>
                  <a:srgbClr val="FFFFFF"/>
                </a:solidFill>
              </a:rPr>
              <a:t>• Invest in 'food-tech for development' R&amp;D, not only high-income markets</a:t>
            </a:r>
          </a:p>
        </p:txBody>
      </p:sp>
      <p:sp>
        <p:nvSpPr>
          <p:cNvPr id="12" name="Rectangle 11"/>
          <p:cNvSpPr/>
          <p:nvPr/>
        </p:nvSpPr>
        <p:spPr>
          <a:xfrm>
            <a:off x="365760" y="3794760"/>
            <a:ext cx="5486400" cy="2103120"/>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867912"/>
            <a:ext cx="5212080" cy="411480"/>
          </a:xfrm>
          <a:prstGeom prst="rect">
            <a:avLst/>
          </a:prstGeom>
          <a:noFill/>
        </p:spPr>
        <p:txBody>
          <a:bodyPr wrap="square">
            <a:spAutoFit/>
          </a:bodyPr>
          <a:lstStyle/>
          <a:p>
            <a:pPr algn="l"/>
            <a:r>
              <a:rPr sz="1400" b="1" i="0">
                <a:solidFill>
                  <a:srgbClr val="E6A23C"/>
                </a:solidFill>
              </a:rPr>
              <a:t>🌾  FARMER ORGANISATIONS</a:t>
            </a:r>
          </a:p>
        </p:txBody>
      </p:sp>
      <p:sp>
        <p:nvSpPr>
          <p:cNvPr id="14" name="TextBox 13"/>
          <p:cNvSpPr txBox="1"/>
          <p:nvPr/>
        </p:nvSpPr>
        <p:spPr>
          <a:xfrm>
            <a:off x="457200" y="4297680"/>
            <a:ext cx="5303520" cy="1508760"/>
          </a:xfrm>
          <a:prstGeom prst="rect">
            <a:avLst/>
          </a:prstGeom>
          <a:noFill/>
        </p:spPr>
        <p:txBody>
          <a:bodyPr wrap="square">
            <a:spAutoFit/>
          </a:bodyPr>
          <a:lstStyle/>
          <a:p>
            <a:pPr>
              <a:spcBef>
                <a:spcPts val="400"/>
              </a:spcBef>
            </a:pPr>
            <a:r>
              <a:rPr sz="1100">
                <a:solidFill>
                  <a:srgbClr val="FFFFFF"/>
                </a:solidFill>
              </a:rPr>
              <a:t>• Organise into producer companies to achieve negotiating scale</a:t>
            </a:r>
          </a:p>
          <a:p>
            <a:pPr>
              <a:spcBef>
                <a:spcPts val="400"/>
              </a:spcBef>
            </a:pPr>
            <a:r>
              <a:rPr sz="1100">
                <a:solidFill>
                  <a:srgbClr val="FFFFFF"/>
                </a:solidFill>
              </a:rPr>
              <a:t>• Adopt digital record-keeping to build credit history and insurance eligibility</a:t>
            </a:r>
          </a:p>
          <a:p>
            <a:pPr>
              <a:spcBef>
                <a:spcPts val="400"/>
              </a:spcBef>
            </a:pPr>
            <a:r>
              <a:rPr sz="1100">
                <a:solidFill>
                  <a:srgbClr val="FFFFFF"/>
                </a:solidFill>
              </a:rPr>
              <a:t>• Connect to early-warning and advisory SMS/digital platforms</a:t>
            </a:r>
          </a:p>
          <a:p>
            <a:pPr>
              <a:spcBef>
                <a:spcPts val="400"/>
              </a:spcBef>
            </a:pPr>
            <a:r>
              <a:rPr sz="1100">
                <a:solidFill>
                  <a:srgbClr val="FFFFFF"/>
                </a:solidFill>
              </a:rPr>
              <a:t>• Advocate for policy reforms that remove subsidy-capture by non-farmers</a:t>
            </a:r>
          </a:p>
        </p:txBody>
      </p:sp>
      <p:sp>
        <p:nvSpPr>
          <p:cNvPr id="15" name="Rectangle 14"/>
          <p:cNvSpPr/>
          <p:nvPr/>
        </p:nvSpPr>
        <p:spPr>
          <a:xfrm>
            <a:off x="6309360" y="3794760"/>
            <a:ext cx="5486400" cy="2103120"/>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867912"/>
            <a:ext cx="5212080" cy="411480"/>
          </a:xfrm>
          <a:prstGeom prst="rect">
            <a:avLst/>
          </a:prstGeom>
          <a:noFill/>
        </p:spPr>
        <p:txBody>
          <a:bodyPr wrap="square">
            <a:spAutoFit/>
          </a:bodyPr>
          <a:lstStyle/>
          <a:p>
            <a:pPr algn="l"/>
            <a:r>
              <a:rPr sz="1400" b="1" i="0">
                <a:solidFill>
                  <a:srgbClr val="E6A23C"/>
                </a:solidFill>
              </a:rPr>
              <a:t>🎓  RESEARCHERS &amp; ACADEMIA</a:t>
            </a:r>
          </a:p>
        </p:txBody>
      </p:sp>
      <p:sp>
        <p:nvSpPr>
          <p:cNvPr id="17" name="TextBox 16"/>
          <p:cNvSpPr txBox="1"/>
          <p:nvPr/>
        </p:nvSpPr>
        <p:spPr>
          <a:xfrm>
            <a:off x="6400800" y="4297680"/>
            <a:ext cx="5303520" cy="1508760"/>
          </a:xfrm>
          <a:prstGeom prst="rect">
            <a:avLst/>
          </a:prstGeom>
          <a:noFill/>
        </p:spPr>
        <p:txBody>
          <a:bodyPr wrap="square">
            <a:spAutoFit/>
          </a:bodyPr>
          <a:lstStyle/>
          <a:p>
            <a:pPr>
              <a:spcBef>
                <a:spcPts val="400"/>
              </a:spcBef>
            </a:pPr>
            <a:r>
              <a:rPr sz="1100">
                <a:solidFill>
                  <a:srgbClr val="FFFFFF"/>
                </a:solidFill>
              </a:rPr>
              <a:t>• Prioritise last-mile technology adaptation for smallholder contexts</a:t>
            </a:r>
          </a:p>
          <a:p>
            <a:pPr>
              <a:spcBef>
                <a:spcPts val="400"/>
              </a:spcBef>
            </a:pPr>
            <a:r>
              <a:rPr sz="1100">
                <a:solidFill>
                  <a:srgbClr val="FFFFFF"/>
                </a:solidFill>
              </a:rPr>
              <a:t>• Publish open-access data and tools for agricultural transformation</a:t>
            </a:r>
          </a:p>
          <a:p>
            <a:pPr>
              <a:spcBef>
                <a:spcPts val="400"/>
              </a:spcBef>
            </a:pPr>
            <a:r>
              <a:rPr sz="1100">
                <a:solidFill>
                  <a:srgbClr val="FFFFFF"/>
                </a:solidFill>
              </a:rPr>
              <a:t>• Engage farmers as co-creators of technology, not just end-users</a:t>
            </a:r>
          </a:p>
          <a:p>
            <a:pPr>
              <a:spcBef>
                <a:spcPts val="400"/>
              </a:spcBef>
            </a:pPr>
            <a:r>
              <a:rPr sz="1100">
                <a:solidFill>
                  <a:srgbClr val="FFFFFF"/>
                </a:solidFill>
              </a:rPr>
              <a:t>• Build South-South research collaboration networks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Rectangle 1"/>
          <p:cNvSpPr/>
          <p:nvPr/>
        </p:nvSpPr>
        <p:spPr>
          <a:xfrm>
            <a:off x="0" y="5303520"/>
            <a:ext cx="12188952" cy="1554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66360"/>
            <a:ext cx="12188952" cy="109728"/>
          </a:xfrm>
          <a:prstGeom prst="rect">
            <a:avLst/>
          </a:prstGeom>
          <a:solidFill>
            <a:srgbClr val="E6A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ctr"/>
            <a:r>
              <a:rPr sz="4000" b="1" i="0">
                <a:solidFill>
                  <a:srgbClr val="FFFFFF"/>
                </a:solidFill>
              </a:rPr>
              <a:t>Conclusion</a:t>
            </a:r>
          </a:p>
        </p:txBody>
      </p:sp>
      <p:sp>
        <p:nvSpPr>
          <p:cNvPr id="5" name="Rectangle 4"/>
          <p:cNvSpPr/>
          <p:nvPr/>
        </p:nvSpPr>
        <p:spPr>
          <a:xfrm>
            <a:off x="457200" y="1051560"/>
            <a:ext cx="11247120" cy="676656"/>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15568"/>
            <a:ext cx="10972800" cy="548640"/>
          </a:xfrm>
          <a:prstGeom prst="rect">
            <a:avLst/>
          </a:prstGeom>
          <a:noFill/>
        </p:spPr>
        <p:txBody>
          <a:bodyPr wrap="square">
            <a:spAutoFit/>
          </a:bodyPr>
          <a:lstStyle/>
          <a:p>
            <a:pPr algn="l"/>
            <a:r>
              <a:rPr sz="1500" b="0" i="0">
                <a:solidFill>
                  <a:srgbClr val="FFFFFF"/>
                </a:solidFill>
              </a:rPr>
              <a:t>01.  Agricultural transformation is not optional — it is the defining challenge of our era</a:t>
            </a:r>
          </a:p>
        </p:txBody>
      </p:sp>
      <p:sp>
        <p:nvSpPr>
          <p:cNvPr id="7" name="Rectangle 6"/>
          <p:cNvSpPr/>
          <p:nvPr/>
        </p:nvSpPr>
        <p:spPr>
          <a:xfrm>
            <a:off x="457200" y="1801368"/>
            <a:ext cx="11247120" cy="676656"/>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65376"/>
            <a:ext cx="10972800" cy="548640"/>
          </a:xfrm>
          <a:prstGeom prst="rect">
            <a:avLst/>
          </a:prstGeom>
          <a:noFill/>
        </p:spPr>
        <p:txBody>
          <a:bodyPr wrap="square">
            <a:spAutoFit/>
          </a:bodyPr>
          <a:lstStyle/>
          <a:p>
            <a:pPr algn="l"/>
            <a:r>
              <a:rPr sz="1500" b="0" i="0">
                <a:solidFill>
                  <a:srgbClr val="FFFFFF"/>
                </a:solidFill>
              </a:rPr>
              <a:t>02.  Technology, sustainability, and smart policy must work together as a system</a:t>
            </a:r>
          </a:p>
        </p:txBody>
      </p:sp>
      <p:sp>
        <p:nvSpPr>
          <p:cNvPr id="9" name="Rectangle 8"/>
          <p:cNvSpPr/>
          <p:nvPr/>
        </p:nvSpPr>
        <p:spPr>
          <a:xfrm>
            <a:off x="457200" y="2551176"/>
            <a:ext cx="11247120" cy="676656"/>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15184"/>
            <a:ext cx="10972800" cy="548640"/>
          </a:xfrm>
          <a:prstGeom prst="rect">
            <a:avLst/>
          </a:prstGeom>
          <a:noFill/>
        </p:spPr>
        <p:txBody>
          <a:bodyPr wrap="square">
            <a:spAutoFit/>
          </a:bodyPr>
          <a:lstStyle/>
          <a:p>
            <a:pPr algn="l"/>
            <a:r>
              <a:rPr sz="1500" b="0" i="0">
                <a:solidFill>
                  <a:srgbClr val="FFFFFF"/>
                </a:solidFill>
              </a:rPr>
              <a:t>03.  Evidence from Ethiopia, Netherlands, India and beyond shows it is achievable</a:t>
            </a:r>
          </a:p>
        </p:txBody>
      </p:sp>
      <p:sp>
        <p:nvSpPr>
          <p:cNvPr id="11" name="Rectangle 10"/>
          <p:cNvSpPr/>
          <p:nvPr/>
        </p:nvSpPr>
        <p:spPr>
          <a:xfrm>
            <a:off x="457200" y="3300984"/>
            <a:ext cx="11247120" cy="676656"/>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364992"/>
            <a:ext cx="10972800" cy="548640"/>
          </a:xfrm>
          <a:prstGeom prst="rect">
            <a:avLst/>
          </a:prstGeom>
          <a:noFill/>
        </p:spPr>
        <p:txBody>
          <a:bodyPr wrap="square">
            <a:spAutoFit/>
          </a:bodyPr>
          <a:lstStyle/>
          <a:p>
            <a:pPr algn="l"/>
            <a:r>
              <a:rPr sz="1500" b="0" i="0">
                <a:solidFill>
                  <a:srgbClr val="FFFFFF"/>
                </a:solidFill>
              </a:rPr>
              <a:t>04.  Benefits span productivity, environment, economy, and social equity</a:t>
            </a:r>
          </a:p>
        </p:txBody>
      </p:sp>
      <p:sp>
        <p:nvSpPr>
          <p:cNvPr id="13" name="Rectangle 12"/>
          <p:cNvSpPr/>
          <p:nvPr/>
        </p:nvSpPr>
        <p:spPr>
          <a:xfrm>
            <a:off x="457200" y="4050792"/>
            <a:ext cx="11247120" cy="676656"/>
          </a:xfrm>
          <a:prstGeom prst="rect">
            <a:avLst/>
          </a:prstGeom>
          <a:solidFill>
            <a:srgbClr val="2761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14800"/>
            <a:ext cx="10972800" cy="548640"/>
          </a:xfrm>
          <a:prstGeom prst="rect">
            <a:avLst/>
          </a:prstGeom>
          <a:noFill/>
        </p:spPr>
        <p:txBody>
          <a:bodyPr wrap="square">
            <a:spAutoFit/>
          </a:bodyPr>
          <a:lstStyle/>
          <a:p>
            <a:pPr algn="l"/>
            <a:r>
              <a:rPr sz="1500" b="0" i="0">
                <a:solidFill>
                  <a:srgbClr val="FFFFFF"/>
                </a:solidFill>
              </a:rPr>
              <a:t>05.  The window for action is open — but narrowing with each passing year</a:t>
            </a:r>
          </a:p>
        </p:txBody>
      </p:sp>
      <p:sp>
        <p:nvSpPr>
          <p:cNvPr id="15" name="TextBox 14"/>
          <p:cNvSpPr txBox="1"/>
          <p:nvPr/>
        </p:nvSpPr>
        <p:spPr>
          <a:xfrm>
            <a:off x="457200" y="5349240"/>
            <a:ext cx="11247120" cy="502920"/>
          </a:xfrm>
          <a:prstGeom prst="rect">
            <a:avLst/>
          </a:prstGeom>
          <a:noFill/>
        </p:spPr>
        <p:txBody>
          <a:bodyPr wrap="square">
            <a:spAutoFit/>
          </a:bodyPr>
          <a:lstStyle/>
          <a:p>
            <a:pPr algn="ctr"/>
            <a:r>
              <a:rPr sz="1800" b="1" i="0">
                <a:solidFill>
                  <a:srgbClr val="FFFFFF"/>
                </a:solidFill>
              </a:rPr>
              <a:t>Thank You  |  Q &amp; A  |  Contact: agri-transformation@example.org</a:t>
            </a:r>
          </a:p>
        </p:txBody>
      </p:sp>
      <p:sp>
        <p:nvSpPr>
          <p:cNvPr id="16" name="TextBox 15"/>
          <p:cNvSpPr txBox="1"/>
          <p:nvPr/>
        </p:nvSpPr>
        <p:spPr>
          <a:xfrm>
            <a:off x="457200" y="5989320"/>
            <a:ext cx="11247120" cy="548640"/>
          </a:xfrm>
          <a:prstGeom prst="rect">
            <a:avLst/>
          </a:prstGeom>
          <a:noFill/>
        </p:spPr>
        <p:txBody>
          <a:bodyPr wrap="square">
            <a:spAutoFit/>
          </a:bodyPr>
          <a:lstStyle/>
          <a:p>
            <a:pPr algn="ctr"/>
            <a:r>
              <a:rPr sz="1300" b="0" i="0">
                <a:solidFill>
                  <a:srgbClr val="C8E6C9"/>
                </a:solidFill>
              </a:rPr>
              <a:t>Slides available for download · References &amp; data sources in appendix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